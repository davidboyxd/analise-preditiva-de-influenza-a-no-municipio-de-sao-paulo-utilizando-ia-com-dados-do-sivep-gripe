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0"/>
  </p:notesMasterIdLst>
  <p:handoutMasterIdLst>
    <p:handoutMasterId r:id="rId51"/>
  </p:handoutMasterIdLst>
  <p:sldIdLst>
    <p:sldId id="256" r:id="rId2"/>
    <p:sldId id="257" r:id="rId3"/>
    <p:sldId id="258" r:id="rId4"/>
    <p:sldId id="332" r:id="rId5"/>
    <p:sldId id="334" r:id="rId6"/>
    <p:sldId id="335" r:id="rId7"/>
    <p:sldId id="322" r:id="rId8"/>
    <p:sldId id="336" r:id="rId9"/>
    <p:sldId id="337" r:id="rId10"/>
    <p:sldId id="339" r:id="rId11"/>
    <p:sldId id="340" r:id="rId12"/>
    <p:sldId id="341" r:id="rId13"/>
    <p:sldId id="342" r:id="rId14"/>
    <p:sldId id="343" r:id="rId15"/>
    <p:sldId id="344" r:id="rId16"/>
    <p:sldId id="345" r:id="rId17"/>
    <p:sldId id="347" r:id="rId18"/>
    <p:sldId id="348" r:id="rId19"/>
    <p:sldId id="349" r:id="rId20"/>
    <p:sldId id="338" r:id="rId21"/>
    <p:sldId id="346" r:id="rId22"/>
    <p:sldId id="351" r:id="rId23"/>
    <p:sldId id="350" r:id="rId24"/>
    <p:sldId id="352" r:id="rId25"/>
    <p:sldId id="353" r:id="rId26"/>
    <p:sldId id="354" r:id="rId27"/>
    <p:sldId id="355" r:id="rId28"/>
    <p:sldId id="356" r:id="rId29"/>
    <p:sldId id="357" r:id="rId30"/>
    <p:sldId id="358" r:id="rId31"/>
    <p:sldId id="359" r:id="rId32"/>
    <p:sldId id="360" r:id="rId33"/>
    <p:sldId id="361" r:id="rId34"/>
    <p:sldId id="362" r:id="rId35"/>
    <p:sldId id="363" r:id="rId36"/>
    <p:sldId id="364" r:id="rId37"/>
    <p:sldId id="365" r:id="rId38"/>
    <p:sldId id="366" r:id="rId39"/>
    <p:sldId id="367" r:id="rId40"/>
    <p:sldId id="368" r:id="rId41"/>
    <p:sldId id="369" r:id="rId42"/>
    <p:sldId id="370" r:id="rId43"/>
    <p:sldId id="372" r:id="rId44"/>
    <p:sldId id="374" r:id="rId45"/>
    <p:sldId id="373" r:id="rId46"/>
    <p:sldId id="317" r:id="rId47"/>
    <p:sldId id="371" r:id="rId48"/>
    <p:sldId id="285" r:id="rId49"/>
  </p:sldIdLst>
  <p:sldSz cx="9144000" cy="6858000" type="screen4x3"/>
  <p:notesSz cx="7104063" cy="102346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0EF73C-01F9-4A04-AB5E-B51DD775D9B4}" v="2" dt="2022-09-03T13:05:28.5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42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47" d="100"/>
          <a:sy n="47" d="100"/>
        </p:scale>
        <p:origin x="-2022" y="-102"/>
      </p:cViewPr>
      <p:guideLst>
        <p:guide orient="horz" pos="3224"/>
        <p:guide pos="223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8" Type="http://schemas.openxmlformats.org/officeDocument/2006/relationships/customXml" Target="../customXml/item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customXml" Target="../customXml/item2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5/10/relationships/revisionInfo" Target="revisionInfo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60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EITAS Paulo" userId="3c12b39a-d365-4fcf-880b-102c81e2cdb9" providerId="ADAL" clId="{260EF73C-01F9-4A04-AB5E-B51DD775D9B4}"/>
    <pc:docChg chg="undo custSel addSld modSld modNotesMaster modHandout">
      <pc:chgData name="FREITAS Paulo" userId="3c12b39a-d365-4fcf-880b-102c81e2cdb9" providerId="ADAL" clId="{260EF73C-01F9-4A04-AB5E-B51DD775D9B4}" dt="2022-09-07T16:48:37.557" v="3" actId="20577"/>
      <pc:docMkLst>
        <pc:docMk/>
      </pc:docMkLst>
      <pc:sldChg chg="modSp mod">
        <pc:chgData name="FREITAS Paulo" userId="3c12b39a-d365-4fcf-880b-102c81e2cdb9" providerId="ADAL" clId="{260EF73C-01F9-4A04-AB5E-B51DD775D9B4}" dt="2022-09-07T16:48:37.557" v="3" actId="20577"/>
        <pc:sldMkLst>
          <pc:docMk/>
          <pc:sldMk cId="0" sldId="337"/>
        </pc:sldMkLst>
        <pc:spChg chg="mod">
          <ac:chgData name="FREITAS Paulo" userId="3c12b39a-d365-4fcf-880b-102c81e2cdb9" providerId="ADAL" clId="{260EF73C-01F9-4A04-AB5E-B51DD775D9B4}" dt="2022-09-07T16:48:37.557" v="3" actId="20577"/>
          <ac:spMkLst>
            <pc:docMk/>
            <pc:sldMk cId="0" sldId="337"/>
            <ac:spMk id="3" creationId="{00000000-0000-0000-0000-000000000000}"/>
          </ac:spMkLst>
        </pc:spChg>
      </pc:sldChg>
      <pc:sldChg chg="add">
        <pc:chgData name="FREITAS Paulo" userId="3c12b39a-d365-4fcf-880b-102c81e2cdb9" providerId="ADAL" clId="{260EF73C-01F9-4A04-AB5E-B51DD775D9B4}" dt="2022-09-03T13:05:04.262" v="0"/>
        <pc:sldMkLst>
          <pc:docMk/>
          <pc:sldMk cId="974381379" sldId="372"/>
        </pc:sldMkLst>
      </pc:sldChg>
      <pc:sldChg chg="add">
        <pc:chgData name="FREITAS Paulo" userId="3c12b39a-d365-4fcf-880b-102c81e2cdb9" providerId="ADAL" clId="{260EF73C-01F9-4A04-AB5E-B51DD775D9B4}" dt="2022-09-03T13:05:04.262" v="0"/>
        <pc:sldMkLst>
          <pc:docMk/>
          <pc:sldMk cId="572553260" sldId="373"/>
        </pc:sldMkLst>
      </pc:sldChg>
      <pc:sldChg chg="add">
        <pc:chgData name="FREITAS Paulo" userId="3c12b39a-d365-4fcf-880b-102c81e2cdb9" providerId="ADAL" clId="{260EF73C-01F9-4A04-AB5E-B51DD775D9B4}" dt="2022-09-03T13:05:04.262" v="0"/>
        <pc:sldMkLst>
          <pc:docMk/>
          <pc:sldMk cId="3547826435" sldId="37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8736" cy="511053"/>
          </a:xfrm>
          <a:prstGeom prst="rect">
            <a:avLst/>
          </a:prstGeom>
        </p:spPr>
        <p:txBody>
          <a:bodyPr vert="horz" lIns="91449" tIns="45725" rIns="91449" bIns="45725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786" y="1"/>
            <a:ext cx="3078736" cy="511053"/>
          </a:xfrm>
          <a:prstGeom prst="rect">
            <a:avLst/>
          </a:prstGeom>
        </p:spPr>
        <p:txBody>
          <a:bodyPr vert="horz" lIns="91449" tIns="45725" rIns="91449" bIns="45725" rtlCol="0"/>
          <a:lstStyle>
            <a:lvl1pPr algn="r">
              <a:defRPr sz="1200"/>
            </a:lvl1pPr>
          </a:lstStyle>
          <a:p>
            <a:fld id="{68F82A69-82DA-42A8-B0FD-1857F5C93032}" type="datetimeFigureOut">
              <a:rPr lang="pt-BR" smtClean="0"/>
              <a:pPr/>
              <a:t>07/09/2022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1869"/>
            <a:ext cx="3078736" cy="511053"/>
          </a:xfrm>
          <a:prstGeom prst="rect">
            <a:avLst/>
          </a:prstGeom>
        </p:spPr>
        <p:txBody>
          <a:bodyPr vert="horz" lIns="91449" tIns="45725" rIns="91449" bIns="45725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786" y="9721869"/>
            <a:ext cx="3078736" cy="511053"/>
          </a:xfrm>
          <a:prstGeom prst="rect">
            <a:avLst/>
          </a:prstGeom>
        </p:spPr>
        <p:txBody>
          <a:bodyPr vert="horz" lIns="91449" tIns="45725" rIns="91449" bIns="45725" rtlCol="0" anchor="b"/>
          <a:lstStyle>
            <a:lvl1pPr algn="r">
              <a:defRPr sz="1200"/>
            </a:lvl1pPr>
          </a:lstStyle>
          <a:p>
            <a:fld id="{CFBA3CD8-9418-406C-9488-3D47F17A25A6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44194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851" cy="511254"/>
          </a:xfrm>
          <a:prstGeom prst="rect">
            <a:avLst/>
          </a:prstGeom>
        </p:spPr>
        <p:txBody>
          <a:bodyPr vert="horz" lIns="91449" tIns="45725" rIns="91449" bIns="45725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625" y="1"/>
            <a:ext cx="3078851" cy="511254"/>
          </a:xfrm>
          <a:prstGeom prst="rect">
            <a:avLst/>
          </a:prstGeom>
        </p:spPr>
        <p:txBody>
          <a:bodyPr vert="horz" lIns="91449" tIns="45725" rIns="91449" bIns="45725" rtlCol="0"/>
          <a:lstStyle>
            <a:lvl1pPr algn="r">
              <a:defRPr sz="1200"/>
            </a:lvl1pPr>
          </a:lstStyle>
          <a:p>
            <a:fld id="{6F6A4FAB-1B70-430A-B0B9-118373EF625D}" type="datetimeFigureOut">
              <a:rPr lang="pt-BR" smtClean="0"/>
              <a:pPr/>
              <a:t>07/09/2022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6763"/>
            <a:ext cx="5119687" cy="3838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9" tIns="45725" rIns="91449" bIns="45725" rtlCol="0" anchor="ctr"/>
          <a:lstStyle/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772" y="4861679"/>
            <a:ext cx="5684521" cy="4606053"/>
          </a:xfrm>
          <a:prstGeom prst="rect">
            <a:avLst/>
          </a:prstGeom>
        </p:spPr>
        <p:txBody>
          <a:bodyPr vert="horz" lIns="91449" tIns="45725" rIns="91449" bIns="45725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772"/>
            <a:ext cx="3078851" cy="511254"/>
          </a:xfrm>
          <a:prstGeom prst="rect">
            <a:avLst/>
          </a:prstGeom>
        </p:spPr>
        <p:txBody>
          <a:bodyPr vert="horz" lIns="91449" tIns="45725" rIns="91449" bIns="45725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625" y="9721772"/>
            <a:ext cx="3078851" cy="511254"/>
          </a:xfrm>
          <a:prstGeom prst="rect">
            <a:avLst/>
          </a:prstGeom>
        </p:spPr>
        <p:txBody>
          <a:bodyPr vert="horz" lIns="91449" tIns="45725" rIns="91449" bIns="45725" rtlCol="0" anchor="b"/>
          <a:lstStyle>
            <a:lvl1pPr algn="r">
              <a:defRPr sz="1200"/>
            </a:lvl1pPr>
          </a:lstStyle>
          <a:p>
            <a:fld id="{759598AE-8196-4C32-9D13-08589109675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6712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9598AE-8196-4C32-9D13-085891096750}" type="slidenum">
              <a:rPr lang="pt-BR" smtClean="0"/>
              <a:pPr/>
              <a:t>42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12447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7A614-1716-45A3-B910-4F075541D605}" type="datetimeFigureOut">
              <a:rPr lang="pt-BR" smtClean="0"/>
              <a:pPr/>
              <a:t>07/09/2022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4AE4D-F6CB-4C1A-9618-9221E9ED63D0}" type="slidenum">
              <a:rPr lang="pt-BR" smtClean="0"/>
              <a:pPr/>
              <a:t>‹nº›</a:t>
            </a:fld>
            <a:endParaRPr lang="pt-BR" dirty="0"/>
          </a:p>
        </p:txBody>
      </p:sp>
      <p:sp>
        <p:nvSpPr>
          <p:cNvPr id="7" name="DataClassificationLabel"/>
          <p:cNvSpPr txBox="1"/>
          <p:nvPr userDrawn="1"/>
        </p:nvSpPr>
        <p:spPr>
          <a:xfrm>
            <a:off x="6096000" y="6629400"/>
            <a:ext cx="2540000" cy="169277"/>
          </a:xfrm>
          <a:prstGeom prst="rect">
            <a:avLst/>
          </a:prstGeom>
          <a:noFill/>
        </p:spPr>
        <p:txBody>
          <a:bodyPr vert="horz" rIns="0" bIns="0" rtlCol="0">
            <a:spAutoFit/>
          </a:bodyPr>
          <a:lstStyle/>
          <a:p>
            <a:pPr algn="r"/>
            <a:endParaRPr lang="pt-BR" sz="800" b="0">
              <a:latin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3042" y="274638"/>
            <a:ext cx="7043758" cy="11430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3042" y="1600200"/>
            <a:ext cx="7043758" cy="45259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pt-BR" dirty="0"/>
          </a:p>
        </p:txBody>
      </p:sp>
      <p:pic>
        <p:nvPicPr>
          <p:cNvPr id="7" name="Picture 6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58082" y="6281761"/>
            <a:ext cx="1714500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 userDrawn="1"/>
        </p:nvSpPr>
        <p:spPr>
          <a:xfrm>
            <a:off x="4857752" y="6509587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F3F5362D-CD23-4C6D-9A6E-7FC8E0548189}" type="slidenum">
              <a:rPr lang="pt-BR" sz="1200" b="1" baseline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pPr/>
              <a:t>‹nº›</a:t>
            </a:fld>
            <a:endParaRPr lang="pt-BR" sz="1200" b="1" baseline="0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DataClassificationLabel"/>
          <p:cNvSpPr txBox="1"/>
          <p:nvPr userDrawn="1"/>
        </p:nvSpPr>
        <p:spPr>
          <a:xfrm>
            <a:off x="6096000" y="6629400"/>
            <a:ext cx="2540000" cy="169277"/>
          </a:xfrm>
          <a:prstGeom prst="rect">
            <a:avLst/>
          </a:prstGeom>
          <a:noFill/>
        </p:spPr>
        <p:txBody>
          <a:bodyPr vert="horz" rIns="0" bIns="0" rtlCol="0">
            <a:spAutoFit/>
          </a:bodyPr>
          <a:lstStyle/>
          <a:p>
            <a:pPr algn="r"/>
            <a:endParaRPr lang="pt-BR" sz="800" b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7A614-1716-45A3-B910-4F075541D605}" type="datetimeFigureOut">
              <a:rPr lang="pt-BR" smtClean="0"/>
              <a:pPr/>
              <a:t>07/09/2022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4AE4D-F6CB-4C1A-9618-9221E9ED63D0}" type="slidenum">
              <a:rPr lang="pt-BR" smtClean="0"/>
              <a:pPr/>
              <a:t>‹nº›</a:t>
            </a:fld>
            <a:endParaRPr lang="pt-BR" dirty="0"/>
          </a:p>
        </p:txBody>
      </p:sp>
      <p:sp>
        <p:nvSpPr>
          <p:cNvPr id="7" name="DataClassificationLabel"/>
          <p:cNvSpPr txBox="1"/>
          <p:nvPr userDrawn="1"/>
        </p:nvSpPr>
        <p:spPr>
          <a:xfrm>
            <a:off x="6096000" y="6629400"/>
            <a:ext cx="2540000" cy="169277"/>
          </a:xfrm>
          <a:prstGeom prst="rect">
            <a:avLst/>
          </a:prstGeom>
          <a:noFill/>
        </p:spPr>
        <p:txBody>
          <a:bodyPr vert="horz" rIns="0" bIns="0" rtlCol="0">
            <a:spAutoFit/>
          </a:bodyPr>
          <a:lstStyle/>
          <a:p>
            <a:pPr algn="r"/>
            <a:endParaRPr lang="pt-BR" sz="800" b="0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7A614-1716-45A3-B910-4F075541D605}" type="datetimeFigureOut">
              <a:rPr lang="pt-BR" smtClean="0"/>
              <a:pPr/>
              <a:t>07/09/2022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4AE4D-F6CB-4C1A-9618-9221E9ED63D0}" type="slidenum">
              <a:rPr lang="pt-BR" smtClean="0"/>
              <a:pPr/>
              <a:t>‹nº›</a:t>
            </a:fld>
            <a:endParaRPr lang="pt-BR" dirty="0"/>
          </a:p>
        </p:txBody>
      </p:sp>
      <p:sp>
        <p:nvSpPr>
          <p:cNvPr id="8" name="DataClassificationLabel"/>
          <p:cNvSpPr txBox="1"/>
          <p:nvPr userDrawn="1"/>
        </p:nvSpPr>
        <p:spPr>
          <a:xfrm>
            <a:off x="6096000" y="6629400"/>
            <a:ext cx="2540000" cy="169277"/>
          </a:xfrm>
          <a:prstGeom prst="rect">
            <a:avLst/>
          </a:prstGeom>
          <a:noFill/>
        </p:spPr>
        <p:txBody>
          <a:bodyPr vert="horz" rIns="0" bIns="0" rtlCol="0">
            <a:spAutoFit/>
          </a:bodyPr>
          <a:lstStyle/>
          <a:p>
            <a:pPr algn="r"/>
            <a:endParaRPr lang="pt-BR" sz="800" b="0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7A614-1716-45A3-B910-4F075541D605}" type="datetimeFigureOut">
              <a:rPr lang="pt-BR" smtClean="0"/>
              <a:pPr/>
              <a:t>07/09/2022</a:t>
            </a:fld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4AE4D-F6CB-4C1A-9618-9221E9ED63D0}" type="slidenum">
              <a:rPr lang="pt-BR" smtClean="0"/>
              <a:pPr/>
              <a:t>‹nº›</a:t>
            </a:fld>
            <a:endParaRPr lang="pt-BR" dirty="0"/>
          </a:p>
        </p:txBody>
      </p:sp>
      <p:sp>
        <p:nvSpPr>
          <p:cNvPr id="10" name="DataClassificationLabel"/>
          <p:cNvSpPr txBox="1"/>
          <p:nvPr userDrawn="1"/>
        </p:nvSpPr>
        <p:spPr>
          <a:xfrm>
            <a:off x="6096000" y="6629400"/>
            <a:ext cx="2540000" cy="169277"/>
          </a:xfrm>
          <a:prstGeom prst="rect">
            <a:avLst/>
          </a:prstGeom>
          <a:noFill/>
        </p:spPr>
        <p:txBody>
          <a:bodyPr vert="horz" rIns="0" bIns="0" rtlCol="0">
            <a:spAutoFit/>
          </a:bodyPr>
          <a:lstStyle/>
          <a:p>
            <a:pPr algn="r"/>
            <a:endParaRPr lang="pt-BR" sz="800" b="0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7A614-1716-45A3-B910-4F075541D605}" type="datetimeFigureOut">
              <a:rPr lang="pt-BR" smtClean="0"/>
              <a:pPr/>
              <a:t>07/09/2022</a:t>
            </a:fld>
            <a:endParaRPr lang="pt-B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4AE4D-F6CB-4C1A-9618-9221E9ED63D0}" type="slidenum">
              <a:rPr lang="pt-BR" smtClean="0"/>
              <a:pPr/>
              <a:t>‹nº›</a:t>
            </a:fld>
            <a:endParaRPr lang="pt-BR" dirty="0"/>
          </a:p>
        </p:txBody>
      </p:sp>
      <p:sp>
        <p:nvSpPr>
          <p:cNvPr id="6" name="DataClassificationLabel"/>
          <p:cNvSpPr txBox="1"/>
          <p:nvPr userDrawn="1"/>
        </p:nvSpPr>
        <p:spPr>
          <a:xfrm>
            <a:off x="6096000" y="6629400"/>
            <a:ext cx="2540000" cy="169277"/>
          </a:xfrm>
          <a:prstGeom prst="rect">
            <a:avLst/>
          </a:prstGeom>
          <a:noFill/>
        </p:spPr>
        <p:txBody>
          <a:bodyPr vert="horz" rIns="0" bIns="0" rtlCol="0">
            <a:spAutoFit/>
          </a:bodyPr>
          <a:lstStyle/>
          <a:p>
            <a:pPr algn="r"/>
            <a:endParaRPr lang="pt-BR" sz="800" b="0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7A614-1716-45A3-B910-4F075541D605}" type="datetimeFigureOut">
              <a:rPr lang="pt-BR" smtClean="0"/>
              <a:pPr/>
              <a:t>07/09/2022</a:t>
            </a:fld>
            <a:endParaRPr lang="pt-B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4AE4D-F6CB-4C1A-9618-9221E9ED63D0}" type="slidenum">
              <a:rPr lang="pt-BR" smtClean="0"/>
              <a:pPr/>
              <a:t>‹nº›</a:t>
            </a:fld>
            <a:endParaRPr lang="pt-BR" dirty="0"/>
          </a:p>
        </p:txBody>
      </p:sp>
      <p:sp>
        <p:nvSpPr>
          <p:cNvPr id="5" name="DataClassificationLabel"/>
          <p:cNvSpPr txBox="1"/>
          <p:nvPr userDrawn="1"/>
        </p:nvSpPr>
        <p:spPr>
          <a:xfrm>
            <a:off x="6096000" y="6629400"/>
            <a:ext cx="2540000" cy="169277"/>
          </a:xfrm>
          <a:prstGeom prst="rect">
            <a:avLst/>
          </a:prstGeom>
          <a:noFill/>
        </p:spPr>
        <p:txBody>
          <a:bodyPr vert="horz" rIns="0" bIns="0" rtlCol="0">
            <a:spAutoFit/>
          </a:bodyPr>
          <a:lstStyle/>
          <a:p>
            <a:pPr algn="r"/>
            <a:endParaRPr lang="pt-BR" sz="800" b="0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7A614-1716-45A3-B910-4F075541D605}" type="datetimeFigureOut">
              <a:rPr lang="pt-BR" smtClean="0"/>
              <a:pPr/>
              <a:t>07/09/2022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4AE4D-F6CB-4C1A-9618-9221E9ED63D0}" type="slidenum">
              <a:rPr lang="pt-BR" smtClean="0"/>
              <a:pPr/>
              <a:t>‹nº›</a:t>
            </a:fld>
            <a:endParaRPr lang="pt-BR" dirty="0"/>
          </a:p>
        </p:txBody>
      </p:sp>
      <p:sp>
        <p:nvSpPr>
          <p:cNvPr id="8" name="DataClassificationLabel"/>
          <p:cNvSpPr txBox="1"/>
          <p:nvPr userDrawn="1"/>
        </p:nvSpPr>
        <p:spPr>
          <a:xfrm>
            <a:off x="6096000" y="6629400"/>
            <a:ext cx="2540000" cy="169277"/>
          </a:xfrm>
          <a:prstGeom prst="rect">
            <a:avLst/>
          </a:prstGeom>
          <a:noFill/>
        </p:spPr>
        <p:txBody>
          <a:bodyPr vert="horz" rIns="0" bIns="0" rtlCol="0">
            <a:spAutoFit/>
          </a:bodyPr>
          <a:lstStyle/>
          <a:p>
            <a:pPr algn="r"/>
            <a:endParaRPr lang="pt-BR" sz="800" b="0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7A614-1716-45A3-B910-4F075541D605}" type="datetimeFigureOut">
              <a:rPr lang="pt-BR" smtClean="0"/>
              <a:pPr/>
              <a:t>07/09/2022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4AE4D-F6CB-4C1A-9618-9221E9ED63D0}" type="slidenum">
              <a:rPr lang="pt-BR" smtClean="0"/>
              <a:pPr/>
              <a:t>‹nº›</a:t>
            </a:fld>
            <a:endParaRPr lang="pt-BR" dirty="0"/>
          </a:p>
        </p:txBody>
      </p:sp>
      <p:sp>
        <p:nvSpPr>
          <p:cNvPr id="8" name="DataClassificationLabel"/>
          <p:cNvSpPr txBox="1"/>
          <p:nvPr userDrawn="1"/>
        </p:nvSpPr>
        <p:spPr>
          <a:xfrm>
            <a:off x="6096000" y="6629400"/>
            <a:ext cx="2540000" cy="169277"/>
          </a:xfrm>
          <a:prstGeom prst="rect">
            <a:avLst/>
          </a:prstGeom>
          <a:noFill/>
        </p:spPr>
        <p:txBody>
          <a:bodyPr vert="horz" rIns="0" bIns="0" rtlCol="0">
            <a:spAutoFit/>
          </a:bodyPr>
          <a:lstStyle/>
          <a:p>
            <a:pPr algn="r"/>
            <a:endParaRPr lang="pt-BR" sz="800" b="0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7A614-1716-45A3-B910-4F075541D605}" type="datetimeFigureOut">
              <a:rPr lang="pt-BR" smtClean="0"/>
              <a:pPr/>
              <a:t>07/09/2022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4AE4D-F6CB-4C1A-9618-9221E9ED63D0}" type="slidenum">
              <a:rPr lang="pt-BR" smtClean="0"/>
              <a:pPr/>
              <a:t>‹nº›</a:t>
            </a:fld>
            <a:endParaRPr lang="pt-BR" dirty="0"/>
          </a:p>
        </p:txBody>
      </p:sp>
      <p:sp>
        <p:nvSpPr>
          <p:cNvPr id="7" name="DataClassificationLabel"/>
          <p:cNvSpPr txBox="1"/>
          <p:nvPr userDrawn="1"/>
        </p:nvSpPr>
        <p:spPr>
          <a:xfrm>
            <a:off x="6096000" y="6629400"/>
            <a:ext cx="2540000" cy="169277"/>
          </a:xfrm>
          <a:prstGeom prst="rect">
            <a:avLst/>
          </a:prstGeom>
          <a:noFill/>
        </p:spPr>
        <p:txBody>
          <a:bodyPr vert="horz" rIns="0" bIns="0" rtlCol="0">
            <a:spAutoFit/>
          </a:bodyPr>
          <a:lstStyle/>
          <a:p>
            <a:pPr algn="r"/>
            <a:endParaRPr lang="pt-BR" sz="800" b="0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7A614-1716-45A3-B910-4F075541D605}" type="datetimeFigureOut">
              <a:rPr lang="pt-BR" smtClean="0"/>
              <a:pPr/>
              <a:t>07/09/2022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4AE4D-F6CB-4C1A-9618-9221E9ED63D0}" type="slidenum">
              <a:rPr lang="pt-BR" smtClean="0"/>
              <a:pPr/>
              <a:t>‹nº›</a:t>
            </a:fld>
            <a:endParaRPr lang="pt-BR" dirty="0"/>
          </a:p>
        </p:txBody>
      </p:sp>
      <p:sp>
        <p:nvSpPr>
          <p:cNvPr id="7" name="DataClassificationLabel"/>
          <p:cNvSpPr txBox="1"/>
          <p:nvPr userDrawn="1"/>
        </p:nvSpPr>
        <p:spPr>
          <a:xfrm>
            <a:off x="6096000" y="6629400"/>
            <a:ext cx="2540000" cy="169277"/>
          </a:xfrm>
          <a:prstGeom prst="rect">
            <a:avLst/>
          </a:prstGeom>
          <a:noFill/>
        </p:spPr>
        <p:txBody>
          <a:bodyPr vert="horz" rIns="0" bIns="0" rtlCol="0">
            <a:spAutoFit/>
          </a:bodyPr>
          <a:lstStyle/>
          <a:p>
            <a:pPr algn="r"/>
            <a:endParaRPr lang="pt-BR" sz="800" b="0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D7A614-1716-45A3-B910-4F075541D605}" type="datetimeFigureOut">
              <a:rPr lang="pt-BR" smtClean="0"/>
              <a:pPr/>
              <a:t>07/09/2022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4AE4D-F6CB-4C1A-9618-9221E9ED63D0}" type="slidenum">
              <a:rPr lang="pt-BR" smtClean="0"/>
              <a:pPr/>
              <a:t>‹nº›</a:t>
            </a:fld>
            <a:endParaRPr lang="pt-B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://ispras.linux-foundation.org/index.php/API_Sanity_Autotest" TargetMode="External"/><Relationship Id="rId2" Type="http://schemas.openxmlformats.org/officeDocument/2006/relationships/hyperlink" Target="http://www.junit.org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Maze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71600" y="625668"/>
            <a:ext cx="7344816" cy="5486704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0" y="-27384"/>
            <a:ext cx="9144000" cy="2000240"/>
          </a:xfrm>
        </p:spPr>
        <p:txBody>
          <a:bodyPr>
            <a:normAutofit/>
          </a:bodyPr>
          <a:lstStyle/>
          <a:p>
            <a:pPr algn="l"/>
            <a:r>
              <a:rPr lang="en-US" sz="45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	Testing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3042" y="0"/>
            <a:ext cx="7500958" cy="1285860"/>
          </a:xfrm>
        </p:spPr>
        <p:txBody>
          <a:bodyPr>
            <a:normAutofit/>
          </a:bodyPr>
          <a:lstStyle/>
          <a:p>
            <a:r>
              <a:rPr lang="pt-BR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Objetivos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3042" y="1285860"/>
            <a:ext cx="7500958" cy="5000660"/>
          </a:xfrm>
        </p:spPr>
        <p:txBody>
          <a:bodyPr>
            <a:normAutofit/>
          </a:bodyPr>
          <a:lstStyle/>
          <a:p>
            <a:r>
              <a:rPr lang="pt-BR" sz="28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Diferenciação entre testes de Validação e Identificação de Defeitos;</a:t>
            </a:r>
          </a:p>
          <a:p>
            <a:r>
              <a:rPr lang="pt-BR" sz="28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Princípios envolvendo teste de componentes e de sistema;</a:t>
            </a:r>
          </a:p>
          <a:p>
            <a:r>
              <a:rPr lang="pt-BR" sz="28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Estratégia de teste de sistemas;</a:t>
            </a:r>
          </a:p>
          <a:p>
            <a:r>
              <a:rPr lang="pt-BR" sz="28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Características essenciais da automação de testes.</a:t>
            </a:r>
          </a:p>
        </p:txBody>
      </p:sp>
      <p:pic>
        <p:nvPicPr>
          <p:cNvPr id="6" name="Picture 5" descr="Objectives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64304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3042" y="0"/>
            <a:ext cx="7500958" cy="1285860"/>
          </a:xfrm>
        </p:spPr>
        <p:txBody>
          <a:bodyPr>
            <a:normAutofit/>
          </a:bodyPr>
          <a:lstStyle/>
          <a:p>
            <a:r>
              <a:rPr lang="pt-BR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Processo de Testes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3042" y="1285860"/>
            <a:ext cx="7500958" cy="5000660"/>
          </a:xfrm>
        </p:spPr>
        <p:txBody>
          <a:bodyPr>
            <a:normAutofit/>
          </a:bodyPr>
          <a:lstStyle/>
          <a:p>
            <a:r>
              <a:rPr lang="pt-BR" sz="28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Componentes</a:t>
            </a:r>
            <a:r>
              <a:rPr lang="pt-BR" sz="28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:</a:t>
            </a:r>
          </a:p>
          <a:p>
            <a:pPr lvl="1"/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teste individual de componentes;</a:t>
            </a:r>
          </a:p>
          <a:p>
            <a:pPr lvl="1"/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usualmente responsabilidade do desenvolvedor (exceção para sistemas críticos);</a:t>
            </a:r>
          </a:p>
          <a:p>
            <a:pPr lvl="1"/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derivados da experiência do desenvolvedor.</a:t>
            </a:r>
          </a:p>
          <a:p>
            <a:r>
              <a:rPr lang="pt-BR" sz="28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Sistemas</a:t>
            </a:r>
            <a:r>
              <a:rPr lang="pt-BR" sz="28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:</a:t>
            </a:r>
          </a:p>
          <a:p>
            <a:pPr lvl="1"/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teste de grupos de componentes (integrados), criando um sistema ou subsistema;</a:t>
            </a:r>
          </a:p>
          <a:p>
            <a:pPr lvl="1"/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responsabilidade de grupo independente de testes;</a:t>
            </a:r>
          </a:p>
          <a:p>
            <a:pPr lvl="1"/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testes baseados na especificação do sistema.</a:t>
            </a:r>
          </a:p>
        </p:txBody>
      </p:sp>
      <p:pic>
        <p:nvPicPr>
          <p:cNvPr id="6" name="Picture 5" descr="Processo EDT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36512" y="0"/>
            <a:ext cx="172819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3042" y="0"/>
            <a:ext cx="7500958" cy="1285860"/>
          </a:xfrm>
        </p:spPr>
        <p:txBody>
          <a:bodyPr>
            <a:normAutofit/>
          </a:bodyPr>
          <a:lstStyle/>
          <a:p>
            <a:r>
              <a:rPr lang="pt-BR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Processo de Testes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3042" y="1285860"/>
            <a:ext cx="7500958" cy="5000660"/>
          </a:xfrm>
        </p:spPr>
        <p:txBody>
          <a:bodyPr>
            <a:normAutofit/>
          </a:bodyPr>
          <a:lstStyle/>
          <a:p>
            <a:r>
              <a:rPr lang="pt-BR" sz="28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Defeitos</a:t>
            </a:r>
            <a:r>
              <a:rPr lang="pt-BR" sz="28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:</a:t>
            </a:r>
          </a:p>
          <a:p>
            <a:pPr lvl="1"/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objetivo de descobrir defeitos;</a:t>
            </a:r>
          </a:p>
          <a:p>
            <a:pPr lvl="1"/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um teste de defeitos efetivo é aquele que força o sistema a se comportar de forma anômala;</a:t>
            </a:r>
          </a:p>
          <a:p>
            <a:pPr lvl="1"/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identifica a presença de defeitos, não sua ausência.</a:t>
            </a:r>
          </a:p>
        </p:txBody>
      </p:sp>
      <p:pic>
        <p:nvPicPr>
          <p:cNvPr id="6" name="Picture 5" descr="Processo EDT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36512" y="0"/>
            <a:ext cx="172819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3042" y="0"/>
            <a:ext cx="7500958" cy="1285860"/>
          </a:xfrm>
        </p:spPr>
        <p:txBody>
          <a:bodyPr>
            <a:normAutofit/>
          </a:bodyPr>
          <a:lstStyle/>
          <a:p>
            <a:r>
              <a:rPr lang="pt-BR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Processo de Testes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3042" y="1285860"/>
            <a:ext cx="7500958" cy="5000660"/>
          </a:xfrm>
        </p:spPr>
        <p:txBody>
          <a:bodyPr>
            <a:normAutofit/>
          </a:bodyPr>
          <a:lstStyle/>
          <a:p>
            <a:r>
              <a:rPr lang="pt-BR" sz="28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Validação</a:t>
            </a:r>
            <a:r>
              <a:rPr lang="pt-BR" sz="28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:</a:t>
            </a:r>
          </a:p>
          <a:p>
            <a:pPr lvl="1"/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demonstrar que o sistema cumpre com os requisitos acordados;</a:t>
            </a:r>
          </a:p>
          <a:p>
            <a:pPr lvl="1"/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teste de sucesso comprova que o sistema opera como planejado.</a:t>
            </a:r>
          </a:p>
          <a:p>
            <a:r>
              <a:rPr lang="pt-BR" sz="28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Defeitos</a:t>
            </a:r>
            <a:r>
              <a:rPr lang="pt-BR" sz="28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:</a:t>
            </a:r>
          </a:p>
          <a:p>
            <a:pPr lvl="1"/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descobrir falhas ou defeitos no sistema onde seu comportamento é incorreto ou fora das especificações;</a:t>
            </a:r>
          </a:p>
          <a:p>
            <a:pPr lvl="1"/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um teste efetivo é aquele que faz com que o sistema se comporte de forma incorreta, expondo defeitos.</a:t>
            </a:r>
          </a:p>
        </p:txBody>
      </p:sp>
      <p:pic>
        <p:nvPicPr>
          <p:cNvPr id="6" name="Picture 5" descr="Processo EDT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36512" y="0"/>
            <a:ext cx="172819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3042" y="0"/>
            <a:ext cx="7500958" cy="1285860"/>
          </a:xfrm>
        </p:spPr>
        <p:txBody>
          <a:bodyPr>
            <a:normAutofit/>
          </a:bodyPr>
          <a:lstStyle/>
          <a:p>
            <a:r>
              <a:rPr lang="pt-BR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Processo de Testes (cont.)</a:t>
            </a:r>
          </a:p>
        </p:txBody>
      </p:sp>
      <p:pic>
        <p:nvPicPr>
          <p:cNvPr id="6" name="Picture 5" descr="Processo EDT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36512" y="0"/>
            <a:ext cx="1728191" cy="6858000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63688" y="1268760"/>
            <a:ext cx="7200799" cy="1944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1643042" y="3501008"/>
            <a:ext cx="7500958" cy="2785512"/>
          </a:xfrm>
        </p:spPr>
        <p:txBody>
          <a:bodyPr>
            <a:normAutofit/>
          </a:bodyPr>
          <a:lstStyle/>
          <a:p>
            <a:r>
              <a:rPr lang="pt-BR" sz="28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Teste</a:t>
            </a:r>
            <a:r>
              <a:rPr lang="pt-BR" sz="28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:</a:t>
            </a:r>
          </a:p>
          <a:p>
            <a:pPr lvl="1"/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resultado esperado (simulação) ou conhecido (execução prévia);</a:t>
            </a:r>
          </a:p>
          <a:p>
            <a:pPr lvl="1"/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comparação direta entre resultado obtido e esperado / conhecido.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3042" y="0"/>
            <a:ext cx="7500958" cy="1285860"/>
          </a:xfrm>
        </p:spPr>
        <p:txBody>
          <a:bodyPr>
            <a:normAutofit/>
          </a:bodyPr>
          <a:lstStyle/>
          <a:p>
            <a:r>
              <a:rPr lang="pt-BR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Políticas de Teste</a:t>
            </a:r>
            <a:endParaRPr lang="pt-BR" sz="28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3042" y="1285860"/>
            <a:ext cx="7500958" cy="5000660"/>
          </a:xfrm>
        </p:spPr>
        <p:txBody>
          <a:bodyPr>
            <a:normAutofit lnSpcReduction="10000"/>
          </a:bodyPr>
          <a:lstStyle/>
          <a:p>
            <a:r>
              <a:rPr lang="pt-BR" sz="28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somente testes exaustivos podem garantir que um sistema está livre de erros, algo impossível de se implementar;</a:t>
            </a:r>
          </a:p>
          <a:p>
            <a:r>
              <a:rPr lang="pt-BR" sz="28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políticas de teste definem a abordagem em se selecionar testes:</a:t>
            </a:r>
          </a:p>
          <a:p>
            <a:pPr lvl="1"/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toda e qualquer função acessado por menus deve ser testada;</a:t>
            </a:r>
          </a:p>
          <a:p>
            <a:pPr lvl="1"/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combinação de funções acessada pelo mesmo menu deve ser testada;</a:t>
            </a:r>
          </a:p>
          <a:p>
            <a:pPr lvl="1"/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sempre que a interação com usuário final for requerida, teste deve incluir input correto e incorreto.</a:t>
            </a:r>
          </a:p>
        </p:txBody>
      </p:sp>
      <p:pic>
        <p:nvPicPr>
          <p:cNvPr id="7" name="Picture 6" descr="Books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5496" y="36587"/>
            <a:ext cx="1656183" cy="682141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3042" y="0"/>
            <a:ext cx="7500958" cy="1285860"/>
          </a:xfrm>
        </p:spPr>
        <p:txBody>
          <a:bodyPr>
            <a:normAutofit/>
          </a:bodyPr>
          <a:lstStyle/>
          <a:p>
            <a:r>
              <a:rPr lang="pt-BR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Testes</a:t>
            </a:r>
            <a:endParaRPr lang="pt-BR" sz="28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3042" y="1285860"/>
            <a:ext cx="7500958" cy="5000660"/>
          </a:xfrm>
        </p:spPr>
        <p:txBody>
          <a:bodyPr>
            <a:normAutofit/>
          </a:bodyPr>
          <a:lstStyle/>
          <a:p>
            <a:r>
              <a:rPr lang="pt-BR" sz="28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Sistema</a:t>
            </a:r>
            <a:r>
              <a:rPr lang="pt-BR" sz="28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:</a:t>
            </a:r>
          </a:p>
          <a:p>
            <a:pPr lvl="1"/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envolve a integração de componentes para criar um sistema ou subsistema;</a:t>
            </a:r>
          </a:p>
          <a:p>
            <a:pPr lvl="1"/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pode significar teste </a:t>
            </a:r>
            <a:r>
              <a:rPr lang="pt-BR" sz="2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incremental</a:t>
            </a:r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;</a:t>
            </a:r>
          </a:p>
          <a:p>
            <a:pPr lvl="1"/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duas fases típicas:</a:t>
            </a:r>
          </a:p>
          <a:p>
            <a:pPr lvl="2"/>
            <a:r>
              <a:rPr lang="pt-BR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Integração</a:t>
            </a:r>
            <a:r>
              <a:rPr lang="pt-BR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: time tem acesso ao código fonte, teste evolui conforme componentes são integrados;</a:t>
            </a:r>
          </a:p>
          <a:p>
            <a:pPr lvl="2"/>
            <a:r>
              <a:rPr lang="pt-BR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lançamento</a:t>
            </a:r>
            <a:r>
              <a:rPr lang="pt-BR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: teste do sistema como um todo, preparado para ser entregue como uma caixa preta.</a:t>
            </a:r>
            <a:endParaRPr lang="pt-BR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6" name="Picture 5" descr="Droid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5496" y="0"/>
            <a:ext cx="158417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3042" y="0"/>
            <a:ext cx="7500958" cy="1285860"/>
          </a:xfrm>
        </p:spPr>
        <p:txBody>
          <a:bodyPr>
            <a:normAutofit/>
          </a:bodyPr>
          <a:lstStyle/>
          <a:p>
            <a:r>
              <a:rPr lang="pt-BR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Testes (cont.)</a:t>
            </a:r>
            <a:endParaRPr lang="pt-BR" sz="28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3042" y="1285860"/>
            <a:ext cx="7500958" cy="5000660"/>
          </a:xfrm>
        </p:spPr>
        <p:txBody>
          <a:bodyPr>
            <a:normAutofit fontScale="92500" lnSpcReduction="20000"/>
          </a:bodyPr>
          <a:lstStyle/>
          <a:p>
            <a:r>
              <a:rPr lang="pt-BR" sz="30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Integração</a:t>
            </a:r>
            <a:r>
              <a:rPr lang="pt-BR" sz="30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:</a:t>
            </a:r>
          </a:p>
          <a:p>
            <a:pPr lvl="1"/>
            <a:r>
              <a:rPr lang="pt-BR" sz="26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construção do sistema, componente a componente, e teste de identificação de problemas que podem surgir devido à interação das partes;</a:t>
            </a:r>
          </a:p>
          <a:p>
            <a:pPr lvl="1"/>
            <a:r>
              <a:rPr lang="pt-BR" sz="26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integração </a:t>
            </a:r>
            <a:r>
              <a:rPr lang="pt-BR" sz="26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top – </a:t>
            </a:r>
            <a:r>
              <a:rPr lang="pt-BR" sz="2600" b="1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down</a:t>
            </a:r>
            <a:r>
              <a:rPr lang="pt-BR" sz="26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:</a:t>
            </a:r>
          </a:p>
          <a:p>
            <a:pPr lvl="2"/>
            <a:r>
              <a:rPr lang="pt-BR" sz="26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desenvolver a estrutura do sistema e </a:t>
            </a:r>
            <a:r>
              <a:rPr lang="pt-BR" sz="2600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populá-la</a:t>
            </a:r>
            <a:r>
              <a:rPr lang="pt-BR" sz="26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com os componentes.</a:t>
            </a:r>
          </a:p>
          <a:p>
            <a:pPr lvl="1"/>
            <a:r>
              <a:rPr lang="pt-BR" sz="26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integração </a:t>
            </a:r>
            <a:r>
              <a:rPr lang="pt-BR" sz="2600" b="1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bottom</a:t>
            </a:r>
            <a:r>
              <a:rPr lang="pt-BR" sz="26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– </a:t>
            </a:r>
            <a:r>
              <a:rPr lang="pt-BR" sz="2600" b="1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up</a:t>
            </a:r>
            <a:r>
              <a:rPr lang="pt-BR" sz="26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:</a:t>
            </a:r>
          </a:p>
          <a:p>
            <a:pPr lvl="2"/>
            <a:r>
              <a:rPr lang="pt-BR" sz="26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primeiramente integrar componentes de </a:t>
            </a:r>
            <a:r>
              <a:rPr lang="pt-BR" sz="2600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infraestrutura</a:t>
            </a:r>
            <a:r>
              <a:rPr lang="pt-BR" sz="26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, adicionando componentes funcionais uma a um.</a:t>
            </a:r>
          </a:p>
          <a:p>
            <a:pPr lvl="1"/>
            <a:r>
              <a:rPr lang="pt-BR" sz="26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a adição incremental na integração visa simplificar a identificação / localização dos erros.</a:t>
            </a:r>
            <a:endParaRPr lang="en-GB" sz="2600" dirty="0"/>
          </a:p>
        </p:txBody>
      </p:sp>
      <p:pic>
        <p:nvPicPr>
          <p:cNvPr id="6" name="Picture 5" descr="Droid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5496" y="0"/>
            <a:ext cx="158417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3042" y="0"/>
            <a:ext cx="7500958" cy="1285860"/>
          </a:xfrm>
        </p:spPr>
        <p:txBody>
          <a:bodyPr>
            <a:normAutofit/>
          </a:bodyPr>
          <a:lstStyle/>
          <a:p>
            <a:r>
              <a:rPr lang="pt-BR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Testes (cont.)</a:t>
            </a:r>
            <a:endParaRPr lang="pt-BR" sz="28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3042" y="1285860"/>
            <a:ext cx="7500958" cy="5000660"/>
          </a:xfrm>
        </p:spPr>
        <p:txBody>
          <a:bodyPr>
            <a:normAutofit/>
          </a:bodyPr>
          <a:lstStyle/>
          <a:p>
            <a:r>
              <a:rPr lang="pt-BR" sz="28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Top - </a:t>
            </a:r>
            <a:r>
              <a:rPr lang="pt-BR" sz="2800" b="1" u="sng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Down</a:t>
            </a:r>
            <a:r>
              <a:rPr lang="pt-BR" sz="28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:</a:t>
            </a:r>
          </a:p>
          <a:p>
            <a:pPr lvl="1"/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técnica incremental que inicia com testes no modulo superior e progressivamente adiciona módulos inferiores, um a um;</a:t>
            </a:r>
          </a:p>
          <a:p>
            <a:pPr lvl="1"/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módulos inferiores normalmente simulados por </a:t>
            </a:r>
            <a:r>
              <a:rPr lang="pt-BR" sz="2400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stubs</a:t>
            </a:r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(mimetismo de funcionalidades);</a:t>
            </a:r>
          </a:p>
          <a:p>
            <a:pPr lvl="1"/>
            <a:r>
              <a:rPr lang="pt-BR" sz="2400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stubs</a:t>
            </a:r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progressivamente substituídos por componentes;</a:t>
            </a:r>
          </a:p>
          <a:p>
            <a:pPr lvl="1"/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recomendação de testar primeiro na largura do sistema antes da profundidade</a:t>
            </a:r>
          </a:p>
        </p:txBody>
      </p:sp>
      <p:pic>
        <p:nvPicPr>
          <p:cNvPr id="6" name="Picture 5" descr="Droid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5496" y="0"/>
            <a:ext cx="158417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3042" y="0"/>
            <a:ext cx="7500958" cy="1285860"/>
          </a:xfrm>
        </p:spPr>
        <p:txBody>
          <a:bodyPr>
            <a:normAutofit/>
          </a:bodyPr>
          <a:lstStyle/>
          <a:p>
            <a:r>
              <a:rPr lang="pt-BR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Testes (cont.)</a:t>
            </a:r>
            <a:endParaRPr lang="pt-BR" sz="28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3042" y="1285860"/>
            <a:ext cx="7500958" cy="5000660"/>
          </a:xfrm>
        </p:spPr>
        <p:txBody>
          <a:bodyPr>
            <a:normAutofit/>
          </a:bodyPr>
          <a:lstStyle/>
          <a:p>
            <a:r>
              <a:rPr lang="pt-BR" sz="28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Top - </a:t>
            </a:r>
            <a:r>
              <a:rPr lang="pt-BR" sz="2800" b="1" u="sng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Down</a:t>
            </a:r>
            <a:r>
              <a:rPr lang="pt-BR" sz="28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:</a:t>
            </a:r>
          </a:p>
          <a:p>
            <a:pPr lvl="1"/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Vantagens</a:t>
            </a:r>
          </a:p>
          <a:p>
            <a:pPr lvl="2"/>
            <a:r>
              <a:rPr lang="pt-BR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(pouco ou) não necessária a codificação de </a:t>
            </a:r>
            <a:r>
              <a:rPr lang="pt-BR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drivers</a:t>
            </a:r>
            <a:r>
              <a:rPr lang="pt-BR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(automação e controle do teste);</a:t>
            </a:r>
          </a:p>
          <a:p>
            <a:pPr lvl="2"/>
            <a:r>
              <a:rPr lang="pt-BR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permite testes antecipados de um módulo funcional, defeitos podem ser identificados e corrigidos antecipadamente;</a:t>
            </a:r>
          </a:p>
          <a:p>
            <a:pPr lvl="2"/>
            <a:r>
              <a:rPr lang="pt-BR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defeitos em módulos de maior importância são identificados antes;</a:t>
            </a:r>
          </a:p>
          <a:p>
            <a:pPr lvl="2"/>
            <a:r>
              <a:rPr lang="pt-BR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ordem de teste flexível.</a:t>
            </a:r>
          </a:p>
        </p:txBody>
      </p:sp>
      <p:pic>
        <p:nvPicPr>
          <p:cNvPr id="6" name="Picture 5" descr="Droid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5496" y="0"/>
            <a:ext cx="158417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3042" y="0"/>
            <a:ext cx="7500958" cy="1285860"/>
          </a:xfrm>
        </p:spPr>
        <p:txBody>
          <a:bodyPr>
            <a:normAutofit/>
          </a:bodyPr>
          <a:lstStyle/>
          <a:p>
            <a:r>
              <a:rPr lang="pt-BR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Testes (cont.)</a:t>
            </a:r>
            <a:endParaRPr lang="pt-BR" sz="28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3042" y="1285860"/>
            <a:ext cx="7500958" cy="5000660"/>
          </a:xfrm>
        </p:spPr>
        <p:txBody>
          <a:bodyPr>
            <a:normAutofit/>
          </a:bodyPr>
          <a:lstStyle/>
          <a:p>
            <a:r>
              <a:rPr lang="pt-BR" sz="28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Top - </a:t>
            </a:r>
            <a:r>
              <a:rPr lang="pt-BR" sz="2800" b="1" u="sng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Down</a:t>
            </a:r>
            <a:r>
              <a:rPr lang="pt-BR" sz="28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:</a:t>
            </a:r>
          </a:p>
          <a:p>
            <a:pPr lvl="1"/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Desvantagens</a:t>
            </a:r>
          </a:p>
          <a:p>
            <a:pPr lvl="2"/>
            <a:r>
              <a:rPr lang="pt-BR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necessário extremo cuidado na codificação de </a:t>
            </a:r>
            <a:r>
              <a:rPr lang="pt-BR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stubs</a:t>
            </a:r>
            <a:r>
              <a:rPr lang="pt-BR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: simularão os módulos;</a:t>
            </a:r>
          </a:p>
          <a:p>
            <a:pPr lvl="2"/>
            <a:r>
              <a:rPr lang="pt-BR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difícil que usuários ou terceiros realizem os testes, normalmente realizado por desenvolvedores;</a:t>
            </a:r>
          </a:p>
          <a:p>
            <a:pPr lvl="2"/>
            <a:r>
              <a:rPr lang="pt-BR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módulos reutilizados podem não ser testados adequadamente.</a:t>
            </a:r>
          </a:p>
        </p:txBody>
      </p:sp>
      <p:pic>
        <p:nvPicPr>
          <p:cNvPr id="6" name="Picture 5" descr="Droid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5496" y="0"/>
            <a:ext cx="158417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3042" y="0"/>
            <a:ext cx="7500958" cy="1285860"/>
          </a:xfrm>
        </p:spPr>
        <p:txBody>
          <a:bodyPr>
            <a:normAutofit/>
          </a:bodyPr>
          <a:lstStyle/>
          <a:p>
            <a:r>
              <a:rPr lang="pt-BR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Testes (cont.)</a:t>
            </a:r>
            <a:endParaRPr lang="pt-BR" sz="28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3042" y="1285860"/>
            <a:ext cx="7500958" cy="5000660"/>
          </a:xfrm>
        </p:spPr>
        <p:txBody>
          <a:bodyPr>
            <a:normAutofit/>
          </a:bodyPr>
          <a:lstStyle/>
          <a:p>
            <a:r>
              <a:rPr lang="pt-BR" sz="2800" b="1" u="sng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Bottom</a:t>
            </a:r>
            <a:r>
              <a:rPr lang="pt-BR" sz="28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- </a:t>
            </a:r>
            <a:r>
              <a:rPr lang="pt-BR" sz="2800" b="1" u="sng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Up</a:t>
            </a:r>
            <a:r>
              <a:rPr lang="pt-BR" sz="28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:</a:t>
            </a:r>
          </a:p>
          <a:p>
            <a:pPr lvl="1"/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técnica incremental que inicia com testes nos módulos inferiores e progressivamente adiciona módulos superiores;</a:t>
            </a:r>
          </a:p>
          <a:p>
            <a:pPr lvl="1"/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módulos que realizam as chamadas são acrescentados um a um;</a:t>
            </a:r>
          </a:p>
          <a:p>
            <a:pPr lvl="1"/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subindo progressivamente até alcançar o nível mais alto.</a:t>
            </a:r>
          </a:p>
        </p:txBody>
      </p:sp>
      <p:pic>
        <p:nvPicPr>
          <p:cNvPr id="6" name="Picture 5" descr="Droid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5496" y="0"/>
            <a:ext cx="158417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3042" y="0"/>
            <a:ext cx="7500958" cy="1285860"/>
          </a:xfrm>
        </p:spPr>
        <p:txBody>
          <a:bodyPr>
            <a:normAutofit/>
          </a:bodyPr>
          <a:lstStyle/>
          <a:p>
            <a:r>
              <a:rPr lang="pt-BR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Testes (cont.)</a:t>
            </a:r>
            <a:endParaRPr lang="pt-BR" sz="28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3042" y="1285860"/>
            <a:ext cx="7500958" cy="5000660"/>
          </a:xfrm>
        </p:spPr>
        <p:txBody>
          <a:bodyPr>
            <a:normAutofit/>
          </a:bodyPr>
          <a:lstStyle/>
          <a:p>
            <a:r>
              <a:rPr lang="pt-BR" sz="2800" b="1" u="sng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Bottom</a:t>
            </a:r>
            <a:r>
              <a:rPr lang="pt-BR" sz="28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- </a:t>
            </a:r>
            <a:r>
              <a:rPr lang="pt-BR" sz="2800" b="1" u="sng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Up</a:t>
            </a:r>
            <a:r>
              <a:rPr lang="pt-BR" sz="28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:</a:t>
            </a:r>
          </a:p>
          <a:p>
            <a:pPr lvl="1"/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Vantagens</a:t>
            </a:r>
          </a:p>
          <a:p>
            <a:pPr lvl="2"/>
            <a:r>
              <a:rPr lang="pt-BR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localização de falhas facilitada;</a:t>
            </a:r>
          </a:p>
          <a:p>
            <a:pPr lvl="2"/>
            <a:r>
              <a:rPr lang="pt-BR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não há a necessidade de </a:t>
            </a:r>
            <a:r>
              <a:rPr lang="pt-BR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stubs</a:t>
            </a:r>
            <a:r>
              <a:rPr lang="pt-BR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;</a:t>
            </a:r>
          </a:p>
          <a:p>
            <a:pPr lvl="2"/>
            <a:r>
              <a:rPr lang="pt-BR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módulos lógicos testados exaustivamente;</a:t>
            </a:r>
          </a:p>
          <a:p>
            <a:pPr lvl="2"/>
            <a:r>
              <a:rPr lang="pt-BR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testes podem ocorrer em paralelo com a implementação.</a:t>
            </a:r>
          </a:p>
        </p:txBody>
      </p:sp>
      <p:pic>
        <p:nvPicPr>
          <p:cNvPr id="6" name="Picture 5" descr="Droid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5496" y="0"/>
            <a:ext cx="158417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3042" y="0"/>
            <a:ext cx="7500958" cy="1285860"/>
          </a:xfrm>
        </p:spPr>
        <p:txBody>
          <a:bodyPr>
            <a:normAutofit/>
          </a:bodyPr>
          <a:lstStyle/>
          <a:p>
            <a:r>
              <a:rPr lang="pt-BR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Testes (cont.)</a:t>
            </a:r>
            <a:endParaRPr lang="pt-BR" sz="28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3042" y="1285860"/>
            <a:ext cx="7500958" cy="5000660"/>
          </a:xfrm>
        </p:spPr>
        <p:txBody>
          <a:bodyPr>
            <a:normAutofit/>
          </a:bodyPr>
          <a:lstStyle/>
          <a:p>
            <a:r>
              <a:rPr lang="pt-BR" sz="2800" b="1" u="sng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Bottom</a:t>
            </a:r>
            <a:r>
              <a:rPr lang="pt-BR" sz="28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- </a:t>
            </a:r>
            <a:r>
              <a:rPr lang="pt-BR" sz="2800" b="1" u="sng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Up</a:t>
            </a:r>
            <a:r>
              <a:rPr lang="pt-BR" sz="28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:</a:t>
            </a:r>
          </a:p>
          <a:p>
            <a:pPr lvl="1"/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Desvantagens</a:t>
            </a:r>
          </a:p>
          <a:p>
            <a:pPr lvl="2"/>
            <a:r>
              <a:rPr lang="pt-BR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necessidade de </a:t>
            </a:r>
            <a:r>
              <a:rPr lang="pt-BR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drivers</a:t>
            </a:r>
            <a:r>
              <a:rPr lang="pt-BR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(controle);</a:t>
            </a:r>
          </a:p>
          <a:p>
            <a:pPr lvl="2"/>
            <a:r>
              <a:rPr lang="pt-BR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módulo(s) principal(is) testados por último;</a:t>
            </a:r>
          </a:p>
          <a:p>
            <a:pPr lvl="2"/>
            <a:r>
              <a:rPr lang="pt-BR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sem amadurecimento da estrutura / arquitetura em estágios iniciais.</a:t>
            </a:r>
          </a:p>
        </p:txBody>
      </p:sp>
      <p:pic>
        <p:nvPicPr>
          <p:cNvPr id="6" name="Picture 5" descr="Droid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5496" y="0"/>
            <a:ext cx="158417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3042" y="0"/>
            <a:ext cx="7500958" cy="1285860"/>
          </a:xfrm>
        </p:spPr>
        <p:txBody>
          <a:bodyPr>
            <a:normAutofit/>
          </a:bodyPr>
          <a:lstStyle/>
          <a:p>
            <a:r>
              <a:rPr lang="pt-BR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Testes (cont.)</a:t>
            </a:r>
            <a:endParaRPr lang="pt-BR" sz="28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3042" y="1285860"/>
            <a:ext cx="7500958" cy="1423060"/>
          </a:xfrm>
        </p:spPr>
        <p:txBody>
          <a:bodyPr>
            <a:normAutofit/>
          </a:bodyPr>
          <a:lstStyle/>
          <a:p>
            <a:r>
              <a:rPr lang="pt-BR" sz="28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Hierarquia Exemplo</a:t>
            </a:r>
            <a:r>
              <a:rPr lang="pt-BR" sz="28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:</a:t>
            </a:r>
          </a:p>
        </p:txBody>
      </p:sp>
      <p:pic>
        <p:nvPicPr>
          <p:cNvPr id="6" name="Picture 5" descr="Droid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5496" y="0"/>
            <a:ext cx="1584176" cy="6858000"/>
          </a:xfrm>
          <a:prstGeom prst="rect">
            <a:avLst/>
          </a:prstGeom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07904" y="2204864"/>
            <a:ext cx="3096344" cy="30963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3042" y="0"/>
            <a:ext cx="7500958" cy="1285860"/>
          </a:xfrm>
        </p:spPr>
        <p:txBody>
          <a:bodyPr>
            <a:normAutofit/>
          </a:bodyPr>
          <a:lstStyle/>
          <a:p>
            <a:r>
              <a:rPr lang="pt-BR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Testes (cont.)</a:t>
            </a:r>
            <a:endParaRPr lang="pt-BR" sz="28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3042" y="1285860"/>
            <a:ext cx="7500958" cy="1423060"/>
          </a:xfrm>
        </p:spPr>
        <p:txBody>
          <a:bodyPr>
            <a:normAutofit/>
          </a:bodyPr>
          <a:lstStyle/>
          <a:p>
            <a:r>
              <a:rPr lang="pt-BR" sz="28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Hierarquia Exemplo</a:t>
            </a:r>
            <a:r>
              <a:rPr lang="pt-BR" sz="28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:</a:t>
            </a:r>
          </a:p>
          <a:p>
            <a:pPr lvl="1"/>
            <a:r>
              <a:rPr lang="pt-BR" sz="2400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top-down</a:t>
            </a:r>
            <a:endParaRPr lang="pt-BR" sz="2400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6" name="Picture 5" descr="Droid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5496" y="0"/>
            <a:ext cx="1584176" cy="6858000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61655" y="2924944"/>
            <a:ext cx="4462673" cy="11521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452320" y="620688"/>
            <a:ext cx="1368152" cy="1368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3042" y="0"/>
            <a:ext cx="7500958" cy="1285860"/>
          </a:xfrm>
        </p:spPr>
        <p:txBody>
          <a:bodyPr>
            <a:normAutofit/>
          </a:bodyPr>
          <a:lstStyle/>
          <a:p>
            <a:r>
              <a:rPr lang="pt-BR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Testes (cont.)</a:t>
            </a:r>
            <a:endParaRPr lang="pt-BR" sz="28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3042" y="1285860"/>
            <a:ext cx="7500958" cy="1423060"/>
          </a:xfrm>
        </p:spPr>
        <p:txBody>
          <a:bodyPr>
            <a:normAutofit/>
          </a:bodyPr>
          <a:lstStyle/>
          <a:p>
            <a:r>
              <a:rPr lang="pt-BR" sz="28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Hierarquia Exemplo</a:t>
            </a:r>
            <a:r>
              <a:rPr lang="pt-BR" sz="28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:</a:t>
            </a:r>
          </a:p>
          <a:p>
            <a:pPr lvl="1"/>
            <a:r>
              <a:rPr lang="pt-BR" sz="2400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bottom-up</a:t>
            </a:r>
            <a:endParaRPr lang="pt-BR" sz="2400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6" name="Picture 5" descr="Droid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5496" y="0"/>
            <a:ext cx="1584176" cy="6858000"/>
          </a:xfrm>
          <a:prstGeom prst="rect">
            <a:avLst/>
          </a:prstGeom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31840" y="2426499"/>
            <a:ext cx="3797796" cy="37731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452320" y="620688"/>
            <a:ext cx="1368152" cy="1368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3042" y="0"/>
            <a:ext cx="7500958" cy="1285860"/>
          </a:xfrm>
        </p:spPr>
        <p:txBody>
          <a:bodyPr>
            <a:normAutofit/>
          </a:bodyPr>
          <a:lstStyle/>
          <a:p>
            <a:r>
              <a:rPr lang="pt-BR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Testes (cont.)</a:t>
            </a:r>
            <a:endParaRPr lang="pt-BR" sz="28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3042" y="1285860"/>
            <a:ext cx="7500958" cy="1423060"/>
          </a:xfrm>
        </p:spPr>
        <p:txBody>
          <a:bodyPr>
            <a:normAutofit/>
          </a:bodyPr>
          <a:lstStyle/>
          <a:p>
            <a:r>
              <a:rPr lang="pt-BR" sz="28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Hierarquia Exemplo</a:t>
            </a:r>
            <a:r>
              <a:rPr lang="pt-BR" sz="28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:</a:t>
            </a:r>
          </a:p>
          <a:p>
            <a:pPr lvl="1"/>
            <a:r>
              <a:rPr lang="pt-BR" sz="2400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top-down</a:t>
            </a:r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modificado</a:t>
            </a:r>
          </a:p>
        </p:txBody>
      </p:sp>
      <p:pic>
        <p:nvPicPr>
          <p:cNvPr id="6" name="Picture 5" descr="Droid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5496" y="0"/>
            <a:ext cx="1584176" cy="6858000"/>
          </a:xfrm>
          <a:prstGeom prst="rect">
            <a:avLst/>
          </a:prstGeom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11760" y="2604492"/>
            <a:ext cx="5936085" cy="29847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452320" y="620688"/>
            <a:ext cx="1368152" cy="1368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3042" y="0"/>
            <a:ext cx="7500958" cy="1285860"/>
          </a:xfrm>
        </p:spPr>
        <p:txBody>
          <a:bodyPr>
            <a:normAutofit/>
          </a:bodyPr>
          <a:lstStyle/>
          <a:p>
            <a:r>
              <a:rPr lang="pt-BR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Testes (cont.)</a:t>
            </a:r>
            <a:endParaRPr lang="pt-BR" sz="28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3042" y="1285860"/>
            <a:ext cx="7500958" cy="5000660"/>
          </a:xfrm>
        </p:spPr>
        <p:txBody>
          <a:bodyPr>
            <a:normAutofit/>
          </a:bodyPr>
          <a:lstStyle/>
          <a:p>
            <a:r>
              <a:rPr lang="pt-BR" sz="28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Abordagem</a:t>
            </a:r>
            <a:r>
              <a:rPr lang="pt-BR" sz="28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:</a:t>
            </a:r>
          </a:p>
          <a:p>
            <a:pPr lvl="1"/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validação arquitetural</a:t>
            </a:r>
          </a:p>
          <a:p>
            <a:pPr lvl="2"/>
            <a:r>
              <a:rPr lang="pt-BR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teste de integração top </a:t>
            </a:r>
            <a:r>
              <a:rPr lang="pt-BR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down</a:t>
            </a:r>
            <a:r>
              <a:rPr lang="pt-BR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é a melhor opção para se descobrir erros na arquitetura do sistema.</a:t>
            </a:r>
          </a:p>
          <a:p>
            <a:pPr lvl="1"/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demonstração do sistema</a:t>
            </a:r>
          </a:p>
          <a:p>
            <a:pPr lvl="2"/>
            <a:r>
              <a:rPr lang="pt-BR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teste de integração top </a:t>
            </a:r>
            <a:r>
              <a:rPr lang="pt-BR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down</a:t>
            </a:r>
            <a:r>
              <a:rPr lang="pt-BR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permite limitada demonstração em estágios iniciais de desenvolvimento.</a:t>
            </a:r>
          </a:p>
        </p:txBody>
      </p:sp>
      <p:pic>
        <p:nvPicPr>
          <p:cNvPr id="6" name="Picture 5" descr="Droid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5496" y="0"/>
            <a:ext cx="158417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3042" y="0"/>
            <a:ext cx="7500958" cy="1285860"/>
          </a:xfrm>
        </p:spPr>
        <p:txBody>
          <a:bodyPr>
            <a:normAutofit/>
          </a:bodyPr>
          <a:lstStyle/>
          <a:p>
            <a:r>
              <a:rPr lang="pt-BR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Testes (cont.)</a:t>
            </a:r>
            <a:endParaRPr lang="pt-BR" sz="28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3042" y="1285860"/>
            <a:ext cx="7500958" cy="5000660"/>
          </a:xfrm>
        </p:spPr>
        <p:txBody>
          <a:bodyPr>
            <a:normAutofit/>
          </a:bodyPr>
          <a:lstStyle/>
          <a:p>
            <a:r>
              <a:rPr lang="pt-BR" sz="28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Abordagem (cont.)</a:t>
            </a:r>
            <a:r>
              <a:rPr lang="pt-BR" sz="28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:</a:t>
            </a:r>
          </a:p>
          <a:p>
            <a:pPr lvl="1"/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teste de implementação</a:t>
            </a:r>
          </a:p>
          <a:p>
            <a:pPr lvl="2"/>
            <a:r>
              <a:rPr lang="pt-BR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normalmente mais fácil em teste de integração </a:t>
            </a:r>
            <a:r>
              <a:rPr lang="pt-BR" b="1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bottom-up</a:t>
            </a:r>
            <a:r>
              <a:rPr lang="pt-BR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lvl="1"/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observação</a:t>
            </a:r>
          </a:p>
          <a:p>
            <a:pPr lvl="2"/>
            <a:r>
              <a:rPr lang="pt-BR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problemas em qualquer metodologia, código extra pode ser necessário</a:t>
            </a:r>
          </a:p>
        </p:txBody>
      </p:sp>
      <p:pic>
        <p:nvPicPr>
          <p:cNvPr id="6" name="Picture 5" descr="Droid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5496" y="0"/>
            <a:ext cx="158417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3042" y="0"/>
            <a:ext cx="7500958" cy="1285860"/>
          </a:xfrm>
        </p:spPr>
        <p:txBody>
          <a:bodyPr>
            <a:normAutofit/>
          </a:bodyPr>
          <a:lstStyle/>
          <a:p>
            <a:r>
              <a:rPr lang="pt-BR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Testes (cont.)</a:t>
            </a:r>
            <a:endParaRPr lang="pt-BR" sz="28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3042" y="1285860"/>
            <a:ext cx="7500958" cy="5000660"/>
          </a:xfrm>
        </p:spPr>
        <p:txBody>
          <a:bodyPr>
            <a:normAutofit/>
          </a:bodyPr>
          <a:lstStyle/>
          <a:p>
            <a:r>
              <a:rPr lang="pt-BR" sz="28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Teste de Lançamento (Release)</a:t>
            </a:r>
          </a:p>
          <a:p>
            <a:pPr lvl="1"/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processo de teste de sistema que será distribuído aos usuários;</a:t>
            </a:r>
          </a:p>
          <a:p>
            <a:pPr lvl="1"/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objetivo principal é o de aumentar a confiança de que o sistema atende aos requisitos;</a:t>
            </a:r>
          </a:p>
          <a:p>
            <a:pPr lvl="1"/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usualmente teste funcional ou “caixa preta”</a:t>
            </a:r>
          </a:p>
          <a:p>
            <a:pPr lvl="2"/>
            <a:r>
              <a:rPr lang="pt-BR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baseado na especificação do sistema apenas;</a:t>
            </a:r>
          </a:p>
          <a:p>
            <a:pPr lvl="2"/>
            <a:r>
              <a:rPr lang="pt-BR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grupo de teste não possui conhecimento prévio do sistema ou detalhes da implementação</a:t>
            </a:r>
          </a:p>
          <a:p>
            <a:endParaRPr lang="pt-BR" sz="2800" b="1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6" name="Picture 5" descr="Droid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5496" y="0"/>
            <a:ext cx="158417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3042" y="0"/>
            <a:ext cx="7500958" cy="1285860"/>
          </a:xfrm>
        </p:spPr>
        <p:txBody>
          <a:bodyPr>
            <a:normAutofit/>
          </a:bodyPr>
          <a:lstStyle/>
          <a:p>
            <a:r>
              <a:rPr lang="pt-BR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Testes (cont.)</a:t>
            </a:r>
            <a:endParaRPr lang="pt-BR" sz="28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3042" y="1285860"/>
            <a:ext cx="7500958" cy="5000660"/>
          </a:xfrm>
        </p:spPr>
        <p:txBody>
          <a:bodyPr>
            <a:normAutofit/>
          </a:bodyPr>
          <a:lstStyle/>
          <a:p>
            <a:r>
              <a:rPr lang="pt-BR" sz="28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Caixa Preta</a:t>
            </a:r>
          </a:p>
        </p:txBody>
      </p:sp>
      <p:pic>
        <p:nvPicPr>
          <p:cNvPr id="6" name="Picture 5" descr="Droid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5496" y="0"/>
            <a:ext cx="1584176" cy="6858000"/>
          </a:xfrm>
          <a:prstGeom prst="rect">
            <a:avLst/>
          </a:prstGeom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05150" y="1916832"/>
            <a:ext cx="4347170" cy="4318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3042" y="0"/>
            <a:ext cx="7500958" cy="1285860"/>
          </a:xfrm>
        </p:spPr>
        <p:txBody>
          <a:bodyPr>
            <a:normAutofit/>
          </a:bodyPr>
          <a:lstStyle/>
          <a:p>
            <a:r>
              <a:rPr lang="pt-BR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Testes (cont.)</a:t>
            </a:r>
            <a:endParaRPr lang="pt-BR" sz="28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3042" y="1285860"/>
            <a:ext cx="7500958" cy="5000660"/>
          </a:xfrm>
        </p:spPr>
        <p:txBody>
          <a:bodyPr>
            <a:normAutofit/>
          </a:bodyPr>
          <a:lstStyle/>
          <a:p>
            <a:r>
              <a:rPr lang="pt-BR" sz="28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Guia</a:t>
            </a:r>
          </a:p>
          <a:p>
            <a:pPr lvl="1"/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testes que podem revelar defeitos no sistema:</a:t>
            </a:r>
          </a:p>
          <a:p>
            <a:pPr lvl="2"/>
            <a:r>
              <a:rPr lang="pt-BR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escolha entrada de dados que forcem todas as mensagens de erro;</a:t>
            </a:r>
          </a:p>
          <a:p>
            <a:pPr lvl="2"/>
            <a:r>
              <a:rPr lang="pt-BR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desenhe conjunto de entrada que gere buffer overflow;</a:t>
            </a:r>
          </a:p>
          <a:p>
            <a:pPr lvl="2"/>
            <a:r>
              <a:rPr lang="pt-BR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repita a mesma entrada, ou série de dados (reprodutibilidade);</a:t>
            </a:r>
          </a:p>
          <a:p>
            <a:pPr lvl="2"/>
            <a:r>
              <a:rPr lang="pt-BR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force saídas inválidas;</a:t>
            </a:r>
          </a:p>
          <a:p>
            <a:pPr lvl="2"/>
            <a:r>
              <a:rPr lang="pt-BR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force que os resultados obtidos estejam no limite do sistema (ex.: muito grandes ou muito pequenos)</a:t>
            </a:r>
          </a:p>
        </p:txBody>
      </p:sp>
      <p:pic>
        <p:nvPicPr>
          <p:cNvPr id="6" name="Picture 5" descr="Droid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5496" y="0"/>
            <a:ext cx="158417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3042" y="0"/>
            <a:ext cx="7500958" cy="1285860"/>
          </a:xfrm>
        </p:spPr>
        <p:txBody>
          <a:bodyPr>
            <a:normAutofit/>
          </a:bodyPr>
          <a:lstStyle/>
          <a:p>
            <a:r>
              <a:rPr lang="pt-BR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Testes (cont.)</a:t>
            </a:r>
            <a:endParaRPr lang="pt-BR" sz="28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3042" y="1285860"/>
            <a:ext cx="7500958" cy="5000660"/>
          </a:xfrm>
        </p:spPr>
        <p:txBody>
          <a:bodyPr>
            <a:normAutofit/>
          </a:bodyPr>
          <a:lstStyle/>
          <a:p>
            <a:r>
              <a:rPr lang="pt-BR" sz="28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Casos de Uso</a:t>
            </a:r>
          </a:p>
          <a:p>
            <a:pPr lvl="1"/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podem ser utilizados como base para se estabelecer testes do sistema;</a:t>
            </a:r>
          </a:p>
          <a:p>
            <a:pPr lvl="1"/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auxiliam na identificação das operações que necessitam verificação;</a:t>
            </a:r>
          </a:p>
          <a:p>
            <a:pPr lvl="1"/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facilitam o desenho de casos de teste;</a:t>
            </a:r>
          </a:p>
          <a:p>
            <a:pPr lvl="1"/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análise da </a:t>
            </a:r>
            <a:r>
              <a:rPr lang="pt-BR" sz="2400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sequencia</a:t>
            </a:r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de diagramas permite identificação do conjunto de dados de entrada e de saída que precisam ser criados.</a:t>
            </a:r>
          </a:p>
        </p:txBody>
      </p:sp>
      <p:pic>
        <p:nvPicPr>
          <p:cNvPr id="6" name="Picture 5" descr="Droid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5496" y="0"/>
            <a:ext cx="158417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3042" y="0"/>
            <a:ext cx="7500958" cy="1285860"/>
          </a:xfrm>
        </p:spPr>
        <p:txBody>
          <a:bodyPr>
            <a:normAutofit/>
          </a:bodyPr>
          <a:lstStyle/>
          <a:p>
            <a:r>
              <a:rPr lang="pt-BR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Testes (cont.)</a:t>
            </a:r>
            <a:endParaRPr lang="pt-BR" sz="28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3042" y="1285860"/>
            <a:ext cx="7500958" cy="5000660"/>
          </a:xfrm>
        </p:spPr>
        <p:txBody>
          <a:bodyPr>
            <a:normAutofit/>
          </a:bodyPr>
          <a:lstStyle/>
          <a:p>
            <a:r>
              <a:rPr lang="pt-BR" sz="28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Performance</a:t>
            </a:r>
          </a:p>
          <a:p>
            <a:pPr lvl="1"/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parte do processo pode envolver testar propriedades do sistema como performance ou confiabilidade;</a:t>
            </a:r>
          </a:p>
          <a:p>
            <a:pPr lvl="1"/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tipicamente testes de performance implicam no planejamento de uma série de testes de aumento de carga gradativo (</a:t>
            </a:r>
            <a:r>
              <a:rPr lang="pt-BR" sz="2400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load</a:t>
            </a:r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) até que a resposta do sistema se torne inaceitável;</a:t>
            </a:r>
          </a:p>
          <a:p>
            <a:pPr lvl="1"/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testes de confiabilidade implicam em validar a operação para situações estremas e por longos períodos, melhores resultados obtidos em pilotos / homologação (UAT).</a:t>
            </a:r>
          </a:p>
        </p:txBody>
      </p:sp>
      <p:pic>
        <p:nvPicPr>
          <p:cNvPr id="6" name="Picture 5" descr="Droid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5496" y="0"/>
            <a:ext cx="158417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3042" y="0"/>
            <a:ext cx="7500958" cy="1285860"/>
          </a:xfrm>
        </p:spPr>
        <p:txBody>
          <a:bodyPr>
            <a:normAutofit/>
          </a:bodyPr>
          <a:lstStyle/>
          <a:p>
            <a:r>
              <a:rPr lang="pt-BR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Testes (cont.)</a:t>
            </a:r>
            <a:endParaRPr lang="pt-BR" sz="28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3042" y="1285860"/>
            <a:ext cx="7500958" cy="5000660"/>
          </a:xfrm>
        </p:spPr>
        <p:txBody>
          <a:bodyPr>
            <a:normAutofit/>
          </a:bodyPr>
          <a:lstStyle/>
          <a:p>
            <a:r>
              <a:rPr lang="pt-BR" sz="28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Stress</a:t>
            </a:r>
          </a:p>
          <a:p>
            <a:pPr lvl="1"/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submeter o sistema a condições alem da carga máxima planejada;</a:t>
            </a:r>
          </a:p>
          <a:p>
            <a:pPr lvl="1"/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teste de stress normalmente revelam defeitos;</a:t>
            </a:r>
          </a:p>
          <a:p>
            <a:pPr lvl="1"/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comportamental: falha sob stress não deve ser catastrófica;</a:t>
            </a:r>
          </a:p>
          <a:p>
            <a:pPr lvl="1"/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teste de stress verificam comportamento inaceitável do sistema;</a:t>
            </a:r>
          </a:p>
          <a:p>
            <a:pPr lvl="1"/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relevante principalmente em sistemas distribuídos devido ao impacto (degradação) gerado por congestão da rede.</a:t>
            </a:r>
          </a:p>
        </p:txBody>
      </p:sp>
      <p:pic>
        <p:nvPicPr>
          <p:cNvPr id="6" name="Picture 5" descr="Droid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5496" y="0"/>
            <a:ext cx="158417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3042" y="0"/>
            <a:ext cx="7500958" cy="1285860"/>
          </a:xfrm>
        </p:spPr>
        <p:txBody>
          <a:bodyPr>
            <a:normAutofit/>
          </a:bodyPr>
          <a:lstStyle/>
          <a:p>
            <a:r>
              <a:rPr lang="pt-BR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Testes (cont.)</a:t>
            </a:r>
            <a:endParaRPr lang="pt-BR" sz="28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3042" y="1285860"/>
            <a:ext cx="7500958" cy="5000660"/>
          </a:xfrm>
        </p:spPr>
        <p:txBody>
          <a:bodyPr>
            <a:normAutofit/>
          </a:bodyPr>
          <a:lstStyle/>
          <a:p>
            <a:r>
              <a:rPr lang="pt-BR" sz="28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Componentes</a:t>
            </a:r>
          </a:p>
          <a:p>
            <a:pPr lvl="1"/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teste unitário ou de componente: processo de teste individualizado, componente isolado;</a:t>
            </a:r>
          </a:p>
          <a:p>
            <a:pPr lvl="1"/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teste de detecção de defeitos;</a:t>
            </a:r>
          </a:p>
          <a:p>
            <a:pPr lvl="1"/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componentes podem ser:</a:t>
            </a:r>
          </a:p>
          <a:p>
            <a:pPr lvl="2"/>
            <a:r>
              <a:rPr lang="pt-BR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funções ou métodos individuais dentro de um objeto;</a:t>
            </a:r>
          </a:p>
          <a:p>
            <a:pPr lvl="2"/>
            <a:r>
              <a:rPr lang="pt-BR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classe de objetos com vários atributos e métodos;</a:t>
            </a:r>
          </a:p>
          <a:p>
            <a:pPr lvl="2"/>
            <a:r>
              <a:rPr lang="pt-BR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componentes compostos com interfaces definidas e acesso às respectivas funcionalidades.</a:t>
            </a:r>
          </a:p>
        </p:txBody>
      </p:sp>
      <p:pic>
        <p:nvPicPr>
          <p:cNvPr id="6" name="Picture 5" descr="Droid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5496" y="0"/>
            <a:ext cx="158417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3042" y="0"/>
            <a:ext cx="7500958" cy="1285860"/>
          </a:xfrm>
        </p:spPr>
        <p:txBody>
          <a:bodyPr>
            <a:normAutofit/>
          </a:bodyPr>
          <a:lstStyle/>
          <a:p>
            <a:r>
              <a:rPr lang="pt-BR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Testes (cont.)</a:t>
            </a:r>
            <a:endParaRPr lang="pt-BR" sz="28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3042" y="1285860"/>
            <a:ext cx="7500958" cy="5000660"/>
          </a:xfrm>
        </p:spPr>
        <p:txBody>
          <a:bodyPr>
            <a:normAutofit/>
          </a:bodyPr>
          <a:lstStyle/>
          <a:p>
            <a:r>
              <a:rPr lang="pt-BR" sz="28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Classes de Objeto</a:t>
            </a:r>
          </a:p>
          <a:p>
            <a:pPr lvl="1"/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teste completo de uma classe envolve:</a:t>
            </a:r>
          </a:p>
          <a:p>
            <a:pPr lvl="2"/>
            <a:r>
              <a:rPr lang="pt-BR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testar todas as operações associadas ao objeto;</a:t>
            </a:r>
          </a:p>
          <a:p>
            <a:pPr lvl="2"/>
            <a:r>
              <a:rPr lang="pt-BR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configurar e questionar todos os seus atributos;</a:t>
            </a:r>
          </a:p>
          <a:p>
            <a:pPr lvl="2"/>
            <a:r>
              <a:rPr lang="pt-BR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testar o objeto em todos os estados possíveis;</a:t>
            </a:r>
          </a:p>
          <a:p>
            <a:pPr lvl="1"/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herança torna o processo mais difícil, informação a ser testada não está localizada.</a:t>
            </a:r>
          </a:p>
        </p:txBody>
      </p:sp>
      <p:pic>
        <p:nvPicPr>
          <p:cNvPr id="6" name="Picture 5" descr="Droid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5496" y="0"/>
            <a:ext cx="158417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3042" y="0"/>
            <a:ext cx="7500958" cy="1285860"/>
          </a:xfrm>
        </p:spPr>
        <p:txBody>
          <a:bodyPr>
            <a:normAutofit/>
          </a:bodyPr>
          <a:lstStyle/>
          <a:p>
            <a:r>
              <a:rPr lang="pt-BR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Teste de Interfaces</a:t>
            </a:r>
            <a:endParaRPr lang="pt-BR" sz="28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3042" y="1285860"/>
            <a:ext cx="7500958" cy="5000660"/>
          </a:xfrm>
        </p:spPr>
        <p:txBody>
          <a:bodyPr>
            <a:normAutofit/>
          </a:bodyPr>
          <a:lstStyle/>
          <a:p>
            <a:r>
              <a:rPr lang="pt-BR" sz="28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objetiva identificar falhas devido a erros de interface ou hipóteses invalidas;</a:t>
            </a:r>
          </a:p>
          <a:p>
            <a:r>
              <a:rPr lang="pt-BR" sz="28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extremamente importante no desenvolvimento orientado a objeto, já que estes são definidos por suas interfaces.</a:t>
            </a:r>
          </a:p>
        </p:txBody>
      </p:sp>
      <p:pic>
        <p:nvPicPr>
          <p:cNvPr id="6" name="Picture 5" descr="Global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71" y="0"/>
            <a:ext cx="168480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3042" y="0"/>
            <a:ext cx="7500958" cy="1285860"/>
          </a:xfrm>
        </p:spPr>
        <p:txBody>
          <a:bodyPr>
            <a:normAutofit/>
          </a:bodyPr>
          <a:lstStyle/>
          <a:p>
            <a:r>
              <a:rPr lang="pt-BR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Teste de Interfaces (cont.)</a:t>
            </a:r>
            <a:endParaRPr lang="pt-BR" sz="28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3042" y="1285860"/>
            <a:ext cx="7500958" cy="5000660"/>
          </a:xfrm>
        </p:spPr>
        <p:txBody>
          <a:bodyPr>
            <a:normAutofit fontScale="92500" lnSpcReduction="20000"/>
          </a:bodyPr>
          <a:lstStyle/>
          <a:p>
            <a:r>
              <a:rPr lang="pt-BR" sz="30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Tipos</a:t>
            </a:r>
          </a:p>
          <a:p>
            <a:pPr lvl="1"/>
            <a:r>
              <a:rPr lang="pt-BR" sz="26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parâmetros</a:t>
            </a:r>
          </a:p>
          <a:p>
            <a:pPr lvl="2"/>
            <a:r>
              <a:rPr lang="pt-BR" sz="26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dados passados de um procedimento para outro (</a:t>
            </a:r>
            <a:r>
              <a:rPr lang="pt-BR" sz="2600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procedure</a:t>
            </a:r>
            <a:r>
              <a:rPr lang="pt-BR" sz="26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).</a:t>
            </a:r>
          </a:p>
          <a:p>
            <a:pPr lvl="1"/>
            <a:r>
              <a:rPr lang="pt-BR" sz="26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compartilhamento de memória </a:t>
            </a:r>
          </a:p>
          <a:p>
            <a:pPr lvl="2"/>
            <a:r>
              <a:rPr lang="pt-BR" sz="26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bloco de memória compartilhado entre procedimentos ou funções.</a:t>
            </a:r>
          </a:p>
          <a:p>
            <a:pPr lvl="1"/>
            <a:r>
              <a:rPr lang="pt-BR" sz="2600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procedural</a:t>
            </a:r>
            <a:endParaRPr lang="pt-BR" sz="2600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lvl="2"/>
            <a:r>
              <a:rPr lang="pt-BR" sz="26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subsistema encapsula uma série de procedimentos chamados por outros subsistemas</a:t>
            </a:r>
          </a:p>
          <a:p>
            <a:pPr lvl="1"/>
            <a:r>
              <a:rPr lang="pt-BR" sz="26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chamadas</a:t>
            </a:r>
          </a:p>
          <a:p>
            <a:pPr lvl="2"/>
            <a:r>
              <a:rPr lang="pt-BR" sz="26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subsistemas realizam solicitações a outros subsistemas</a:t>
            </a:r>
          </a:p>
        </p:txBody>
      </p:sp>
      <p:pic>
        <p:nvPicPr>
          <p:cNvPr id="6" name="Picture 5" descr="Global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71" y="0"/>
            <a:ext cx="168480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3042" y="0"/>
            <a:ext cx="7500958" cy="1285860"/>
          </a:xfrm>
        </p:spPr>
        <p:txBody>
          <a:bodyPr>
            <a:normAutofit/>
          </a:bodyPr>
          <a:lstStyle/>
          <a:p>
            <a:r>
              <a:rPr lang="pt-BR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Teste de Interfaces (cont.)</a:t>
            </a:r>
            <a:endParaRPr lang="pt-BR" sz="28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3042" y="1285860"/>
            <a:ext cx="7500958" cy="5000660"/>
          </a:xfrm>
        </p:spPr>
        <p:txBody>
          <a:bodyPr>
            <a:normAutofit/>
          </a:bodyPr>
          <a:lstStyle/>
          <a:p>
            <a:r>
              <a:rPr lang="pt-BR" sz="28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Erros</a:t>
            </a:r>
          </a:p>
          <a:p>
            <a:pPr lvl="1"/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má utilização</a:t>
            </a:r>
          </a:p>
          <a:p>
            <a:pPr lvl="2"/>
            <a:r>
              <a:rPr lang="pt-BR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chamada entre componentes realizada de forma errônea (ex.: ordem imprópria)</a:t>
            </a:r>
          </a:p>
          <a:p>
            <a:pPr lvl="1"/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falha no entendimento</a:t>
            </a:r>
          </a:p>
          <a:p>
            <a:pPr lvl="2"/>
            <a:r>
              <a:rPr lang="pt-BR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chamada presume um comportamento do componente que não é real</a:t>
            </a:r>
          </a:p>
          <a:p>
            <a:pPr lvl="1"/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erro de sincronismo</a:t>
            </a:r>
          </a:p>
          <a:p>
            <a:pPr lvl="2"/>
            <a:r>
              <a:rPr lang="pt-BR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processo de chamada / resposta opera em tempos / velocidades distintos gerando acesso a informação desatualizada / errada</a:t>
            </a:r>
          </a:p>
        </p:txBody>
      </p:sp>
      <p:pic>
        <p:nvPicPr>
          <p:cNvPr id="6" name="Picture 5" descr="Global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71" y="0"/>
            <a:ext cx="168480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3042" y="0"/>
            <a:ext cx="7500958" cy="1285860"/>
          </a:xfrm>
        </p:spPr>
        <p:txBody>
          <a:bodyPr>
            <a:normAutofit/>
          </a:bodyPr>
          <a:lstStyle/>
          <a:p>
            <a:r>
              <a:rPr lang="pt-BR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Teste de Interfaces (cont.)</a:t>
            </a:r>
            <a:endParaRPr lang="pt-BR" sz="28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3042" y="1285860"/>
            <a:ext cx="7500958" cy="5000660"/>
          </a:xfrm>
        </p:spPr>
        <p:txBody>
          <a:bodyPr>
            <a:normAutofit/>
          </a:bodyPr>
          <a:lstStyle/>
          <a:p>
            <a:r>
              <a:rPr lang="pt-BR" sz="28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Guia</a:t>
            </a:r>
          </a:p>
          <a:p>
            <a:pPr lvl="1"/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desenhar testes de forma que os parâmetros passados ao procedimento estejam nos extremos de seus respectivos intervalos;</a:t>
            </a:r>
          </a:p>
          <a:p>
            <a:pPr lvl="1"/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sempre valide ponteiros com valores nulos;</a:t>
            </a:r>
          </a:p>
          <a:p>
            <a:pPr lvl="1"/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desenhe testes que forcem a falha do componente;</a:t>
            </a:r>
          </a:p>
          <a:p>
            <a:pPr lvl="1"/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utilize teste de stress em sistemas de troca de mensagens;</a:t>
            </a:r>
          </a:p>
          <a:p>
            <a:pPr lvl="1"/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em sistemas de memória compartilhada, altere a ordem de ativação dos componentes</a:t>
            </a:r>
            <a:r>
              <a:rPr lang="pt-BR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</a:t>
            </a:r>
            <a:endParaRPr lang="pt-BR" sz="2400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6" name="Picture 5" descr="Global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71" y="0"/>
            <a:ext cx="168480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3042" y="0"/>
            <a:ext cx="7500958" cy="1285860"/>
          </a:xfrm>
        </p:spPr>
        <p:txBody>
          <a:bodyPr>
            <a:normAutofit/>
          </a:bodyPr>
          <a:lstStyle/>
          <a:p>
            <a:r>
              <a:rPr lang="pt-BR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Caso de Teste</a:t>
            </a:r>
            <a:endParaRPr lang="pt-BR" sz="28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3042" y="1285860"/>
            <a:ext cx="7500958" cy="5000660"/>
          </a:xfrm>
        </p:spPr>
        <p:txBody>
          <a:bodyPr>
            <a:normAutofit/>
          </a:bodyPr>
          <a:lstStyle/>
          <a:p>
            <a:r>
              <a:rPr lang="pt-BR" sz="28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definição de entradas / saídas para teste do sistema;</a:t>
            </a:r>
          </a:p>
          <a:p>
            <a:r>
              <a:rPr lang="pt-BR" sz="28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objetiva desenhar um pacote de testes efetivo em validar o sistema (processo </a:t>
            </a:r>
            <a:r>
              <a:rPr lang="pt-BR" sz="2800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V&amp;V</a:t>
            </a:r>
            <a:r>
              <a:rPr lang="pt-BR" sz="28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) e identificar defeitos;</a:t>
            </a:r>
          </a:p>
          <a:p>
            <a:r>
              <a:rPr lang="pt-BR" sz="28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estratégia:</a:t>
            </a:r>
          </a:p>
          <a:p>
            <a:pPr lvl="1"/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testes baseados em requisitos;</a:t>
            </a:r>
          </a:p>
          <a:p>
            <a:pPr lvl="1"/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teste de partição;</a:t>
            </a:r>
          </a:p>
          <a:p>
            <a:pPr lvl="1"/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teste estrutural.</a:t>
            </a:r>
          </a:p>
        </p:txBody>
      </p:sp>
      <p:pic>
        <p:nvPicPr>
          <p:cNvPr id="5" name="Picture 4" descr="Which Way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69168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3042" y="0"/>
            <a:ext cx="7500958" cy="1285860"/>
          </a:xfrm>
        </p:spPr>
        <p:txBody>
          <a:bodyPr>
            <a:normAutofit/>
          </a:bodyPr>
          <a:lstStyle/>
          <a:p>
            <a:r>
              <a:rPr lang="pt-BR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Caso de Teste (cont.)</a:t>
            </a:r>
            <a:endParaRPr lang="pt-BR" sz="28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3042" y="1285860"/>
            <a:ext cx="7500958" cy="5000660"/>
          </a:xfrm>
        </p:spPr>
        <p:txBody>
          <a:bodyPr>
            <a:normAutofit/>
          </a:bodyPr>
          <a:lstStyle/>
          <a:p>
            <a:r>
              <a:rPr lang="pt-BR" sz="28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Requisitos</a:t>
            </a:r>
            <a:r>
              <a:rPr lang="pt-BR" sz="28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</a:t>
            </a:r>
          </a:p>
          <a:p>
            <a:pPr lvl="1"/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princípio de </a:t>
            </a:r>
            <a:r>
              <a:rPr lang="pt-BR" sz="2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Engenharia de Software</a:t>
            </a:r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: todo e qualquer requisito deve ser validado e permitir ser testado;</a:t>
            </a:r>
          </a:p>
          <a:p>
            <a:pPr lvl="1"/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técnica de </a:t>
            </a:r>
            <a:r>
              <a:rPr lang="pt-BR" sz="2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Validação</a:t>
            </a:r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onde se considera cada requisito e se deriva um conjunto de testes capaz de validá-lo;</a:t>
            </a:r>
          </a:p>
          <a:p>
            <a:pPr lvl="1"/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aplicação caso a caso, sem metodologia genérica;</a:t>
            </a:r>
          </a:p>
          <a:p>
            <a:pPr lvl="1"/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no caso de aspectos subjetivos, necessária a identificação de </a:t>
            </a:r>
            <a:r>
              <a:rPr lang="pt-BR" sz="2400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KPI’s</a:t>
            </a:r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que permitam mensuração.</a:t>
            </a:r>
          </a:p>
        </p:txBody>
      </p:sp>
      <p:pic>
        <p:nvPicPr>
          <p:cNvPr id="5" name="Picture 4" descr="Which Way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69168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3042" y="0"/>
            <a:ext cx="7500958" cy="1285860"/>
          </a:xfrm>
        </p:spPr>
        <p:txBody>
          <a:bodyPr>
            <a:normAutofit/>
          </a:bodyPr>
          <a:lstStyle/>
          <a:p>
            <a:r>
              <a:rPr lang="pt-BR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Caso de Teste (cont.)</a:t>
            </a:r>
            <a:endParaRPr lang="pt-BR" sz="28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3042" y="1285860"/>
            <a:ext cx="7500958" cy="5000660"/>
          </a:xfrm>
        </p:spPr>
        <p:txBody>
          <a:bodyPr>
            <a:normAutofit/>
          </a:bodyPr>
          <a:lstStyle/>
          <a:p>
            <a:r>
              <a:rPr lang="pt-BR" sz="28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Partição</a:t>
            </a:r>
            <a:r>
              <a:rPr lang="pt-BR" sz="28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</a:t>
            </a:r>
          </a:p>
          <a:p>
            <a:pPr lvl="1"/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dados de entrada e de saída normalmente podem ser agrupados em diferentes classes, onde os membros de uma mesma classe estão relacionados;</a:t>
            </a:r>
          </a:p>
          <a:p>
            <a:pPr lvl="1"/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cada classe é uma </a:t>
            </a:r>
            <a:r>
              <a:rPr lang="pt-BR" sz="2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Partição Equivalente</a:t>
            </a:r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(Domínio) onde o sistema se comporta de maneira equivalente para cada membro dessa classe específica;</a:t>
            </a:r>
          </a:p>
          <a:p>
            <a:pPr lvl="1"/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testes de caso devem ser desenhados para cada partição.</a:t>
            </a:r>
          </a:p>
        </p:txBody>
      </p:sp>
      <p:pic>
        <p:nvPicPr>
          <p:cNvPr id="5" name="Picture 4" descr="Which Way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69168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3042" y="0"/>
            <a:ext cx="7500958" cy="1285860"/>
          </a:xfrm>
        </p:spPr>
        <p:txBody>
          <a:bodyPr>
            <a:normAutofit/>
          </a:bodyPr>
          <a:lstStyle/>
          <a:p>
            <a:r>
              <a:rPr lang="pt-BR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Partição</a:t>
            </a:r>
            <a:endParaRPr lang="pt-BR" sz="28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3042" y="1285860"/>
            <a:ext cx="7500958" cy="5000660"/>
          </a:xfrm>
        </p:spPr>
        <p:txBody>
          <a:bodyPr>
            <a:noAutofit/>
          </a:bodyPr>
          <a:lstStyle/>
          <a:p>
            <a:r>
              <a:rPr lang="pt-BR" sz="28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idéia básica: dividir o espaço de entrada (função) do programa em classes (quase) equivalentes;</a:t>
            </a:r>
          </a:p>
          <a:p>
            <a:r>
              <a:rPr lang="pt-BR" sz="28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idéia básica por trás de testes baseados em requisitos, especificações, defeitos e estrutural;</a:t>
            </a:r>
          </a:p>
        </p:txBody>
      </p:sp>
      <p:pic>
        <p:nvPicPr>
          <p:cNvPr id="6" name="Picture 5" descr="Nucleus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69168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3042" y="0"/>
            <a:ext cx="7500958" cy="1285860"/>
          </a:xfrm>
        </p:spPr>
        <p:txBody>
          <a:bodyPr>
            <a:normAutofit/>
          </a:bodyPr>
          <a:lstStyle/>
          <a:p>
            <a:r>
              <a:rPr lang="pt-BR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Partição (cont.)</a:t>
            </a:r>
            <a:endParaRPr lang="pt-BR" sz="28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3042" y="1285860"/>
            <a:ext cx="7500958" cy="5000660"/>
          </a:xfrm>
        </p:spPr>
        <p:txBody>
          <a:bodyPr>
            <a:noAutofit/>
          </a:bodyPr>
          <a:lstStyle/>
          <a:p>
            <a:r>
              <a:rPr lang="pt-BR" sz="2400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passo 1</a:t>
            </a:r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: analise de especificações</a:t>
            </a:r>
          </a:p>
          <a:p>
            <a:pPr lvl="1"/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identificar unidades funcionais (individuais) que possam ser testadas separadamente. Para cada unidade deve-se identificar:</a:t>
            </a:r>
          </a:p>
          <a:p>
            <a:pPr lvl="2"/>
            <a:r>
              <a:rPr lang="pt-BR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parâmetros e características;</a:t>
            </a:r>
          </a:p>
          <a:p>
            <a:pPr lvl="2"/>
            <a:r>
              <a:rPr lang="pt-BR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ambiente e características.</a:t>
            </a:r>
          </a:p>
          <a:p>
            <a:pPr lvl="1"/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classifique as unidades em categorias</a:t>
            </a:r>
          </a:p>
          <a:p>
            <a:r>
              <a:rPr lang="pt-BR" sz="2400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passo 2</a:t>
            </a:r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: </a:t>
            </a:r>
            <a:r>
              <a:rPr lang="pt-BR" sz="2400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particione</a:t>
            </a:r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as categorias em opções</a:t>
            </a:r>
          </a:p>
          <a:p>
            <a:r>
              <a:rPr lang="pt-BR" sz="2400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passo 3</a:t>
            </a:r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: determine vínculos, restrições e dependências entre as opções;</a:t>
            </a:r>
          </a:p>
          <a:p>
            <a:r>
              <a:rPr lang="pt-BR" sz="2400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passo 4</a:t>
            </a:r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: escreva testes e documentação</a:t>
            </a:r>
          </a:p>
        </p:txBody>
      </p:sp>
      <p:pic>
        <p:nvPicPr>
          <p:cNvPr id="6" name="Picture 5" descr="Nucleus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69168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3042" y="0"/>
            <a:ext cx="7500958" cy="1285860"/>
          </a:xfrm>
        </p:spPr>
        <p:txBody>
          <a:bodyPr>
            <a:normAutofit/>
          </a:bodyPr>
          <a:lstStyle/>
          <a:p>
            <a:r>
              <a:rPr lang="pt-BR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Partição (cont.)</a:t>
            </a:r>
            <a:endParaRPr lang="pt-BR" sz="28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3042" y="1285860"/>
            <a:ext cx="7500958" cy="5000660"/>
          </a:xfrm>
        </p:spPr>
        <p:txBody>
          <a:bodyPr>
            <a:noAutofit/>
          </a:bodyPr>
          <a:lstStyle/>
          <a:p>
            <a:r>
              <a:rPr lang="pt-BR" sz="28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implementação prática de princípios gerais:</a:t>
            </a:r>
          </a:p>
          <a:p>
            <a:pPr lvl="1"/>
            <a:r>
              <a:rPr lang="pt-BR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teste de </a:t>
            </a:r>
            <a:r>
              <a:rPr lang="pt-BR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particionamento</a:t>
            </a:r>
            <a:r>
              <a:rPr lang="pt-BR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;</a:t>
            </a:r>
          </a:p>
          <a:p>
            <a:pPr lvl="1"/>
            <a:r>
              <a:rPr lang="pt-BR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teste de fronteira;</a:t>
            </a:r>
          </a:p>
          <a:p>
            <a:pPr lvl="1"/>
            <a:r>
              <a:rPr lang="pt-BR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condições de erro</a:t>
            </a:r>
          </a:p>
          <a:p>
            <a:r>
              <a:rPr lang="pt-BR" sz="28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outras abordagens com objetivos similares, mas diferentes procedimentos:</a:t>
            </a:r>
          </a:p>
          <a:p>
            <a:pPr lvl="1"/>
            <a:r>
              <a:rPr lang="pt-BR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tabelas condicionais;</a:t>
            </a:r>
          </a:p>
          <a:p>
            <a:pPr lvl="1"/>
            <a:r>
              <a:rPr lang="pt-BR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gráficos de causa efeito;</a:t>
            </a:r>
          </a:p>
          <a:p>
            <a:pPr lvl="1"/>
            <a:r>
              <a:rPr lang="pt-BR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particionamento</a:t>
            </a:r>
            <a:r>
              <a:rPr lang="pt-BR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equivalente</a:t>
            </a:r>
          </a:p>
        </p:txBody>
      </p:sp>
      <p:pic>
        <p:nvPicPr>
          <p:cNvPr id="6" name="Picture 5" descr="Nucleus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69168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3042" y="0"/>
            <a:ext cx="7500958" cy="1285860"/>
          </a:xfrm>
        </p:spPr>
        <p:txBody>
          <a:bodyPr>
            <a:normAutofit/>
          </a:bodyPr>
          <a:lstStyle/>
          <a:p>
            <a:r>
              <a:rPr lang="pt-BR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Caso de Teste (cont.)</a:t>
            </a:r>
            <a:endParaRPr lang="pt-BR" sz="28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3042" y="1285860"/>
            <a:ext cx="7500958" cy="5000660"/>
          </a:xfrm>
        </p:spPr>
        <p:txBody>
          <a:bodyPr>
            <a:normAutofit/>
          </a:bodyPr>
          <a:lstStyle/>
          <a:p>
            <a:r>
              <a:rPr lang="pt-BR" sz="28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Estrutural</a:t>
            </a:r>
            <a:endParaRPr lang="pt-BR" sz="2800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lvl="1"/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também conhecido como </a:t>
            </a:r>
            <a:r>
              <a:rPr lang="pt-BR" sz="2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Caixa Branca</a:t>
            </a:r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;</a:t>
            </a:r>
          </a:p>
          <a:p>
            <a:pPr lvl="1"/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desenho de caso de teste de acordo com a estrutura do programa;</a:t>
            </a:r>
          </a:p>
          <a:p>
            <a:pPr lvl="1"/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conhecimento da estrutura do programa utilizada para identificar casos de teste adicionais;</a:t>
            </a:r>
          </a:p>
          <a:p>
            <a:pPr lvl="1"/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objetivo é testar todas as declarações do programa, não as combinações de execução possíveis.</a:t>
            </a:r>
          </a:p>
        </p:txBody>
      </p:sp>
      <p:pic>
        <p:nvPicPr>
          <p:cNvPr id="5" name="Picture 4" descr="Which Way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69168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3042" y="0"/>
            <a:ext cx="7500958" cy="1285860"/>
          </a:xfrm>
        </p:spPr>
        <p:txBody>
          <a:bodyPr>
            <a:normAutofit/>
          </a:bodyPr>
          <a:lstStyle/>
          <a:p>
            <a:r>
              <a:rPr lang="pt-BR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Automação</a:t>
            </a:r>
            <a:endParaRPr lang="pt-BR" sz="28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3042" y="1124744"/>
            <a:ext cx="7500958" cy="5000660"/>
          </a:xfrm>
        </p:spPr>
        <p:txBody>
          <a:bodyPr>
            <a:noAutofit/>
          </a:bodyPr>
          <a:lstStyle/>
          <a:p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processo dispendioso, demorado e tedioso;</a:t>
            </a:r>
          </a:p>
          <a:p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frameworks propiciam gama de ferramentas de teste que permitem reduzir o tempo necessário e os custos envolvidos;</a:t>
            </a:r>
          </a:p>
          <a:p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sistemas como </a:t>
            </a:r>
            <a:r>
              <a:rPr lang="pt-BR" sz="2400" b="1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Junit</a:t>
            </a:r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(</a:t>
            </a:r>
            <a:r>
              <a:rPr lang="pt-BR" sz="1800" dirty="0">
                <a:solidFill>
                  <a:schemeClr val="tx2"/>
                </a:solidFill>
                <a:latin typeface="Arial" pitchFamily="34" charset="0"/>
                <a:cs typeface="Arial" pitchFamily="34" charset="0"/>
                <a:hlinkClick r:id="rId2"/>
              </a:rPr>
              <a:t>www.junit.org</a:t>
            </a:r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- Java) e </a:t>
            </a:r>
            <a:r>
              <a:rPr lang="pt-BR" sz="2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API </a:t>
            </a:r>
            <a:r>
              <a:rPr lang="pt-BR" sz="2400" b="1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Sanity</a:t>
            </a:r>
            <a:r>
              <a:rPr lang="pt-BR" sz="2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pt-BR" sz="2400" b="1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Autotest</a:t>
            </a:r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(</a:t>
            </a:r>
            <a:r>
              <a:rPr lang="pt-BR" sz="1800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  <a:hlinkClick r:id="rId3"/>
              </a:rPr>
              <a:t>ispras</a:t>
            </a:r>
            <a:r>
              <a:rPr lang="pt-BR" sz="1800" dirty="0">
                <a:solidFill>
                  <a:schemeClr val="tx2"/>
                </a:solidFill>
                <a:latin typeface="Arial" pitchFamily="34" charset="0"/>
                <a:cs typeface="Arial" pitchFamily="34" charset="0"/>
                <a:hlinkClick r:id="rId3"/>
              </a:rPr>
              <a:t>.</a:t>
            </a:r>
            <a:r>
              <a:rPr lang="pt-BR" sz="1800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  <a:hlinkClick r:id="rId3"/>
              </a:rPr>
              <a:t>linux</a:t>
            </a:r>
            <a:r>
              <a:rPr lang="pt-BR" sz="1800" dirty="0">
                <a:solidFill>
                  <a:schemeClr val="tx2"/>
                </a:solidFill>
                <a:latin typeface="Arial" pitchFamily="34" charset="0"/>
                <a:cs typeface="Arial" pitchFamily="34" charset="0"/>
                <a:hlinkClick r:id="rId3"/>
              </a:rPr>
              <a:t>-foundation.org/</a:t>
            </a:r>
            <a:r>
              <a:rPr lang="pt-BR" sz="1800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  <a:hlinkClick r:id="rId3"/>
              </a:rPr>
              <a:t>index</a:t>
            </a:r>
            <a:r>
              <a:rPr lang="pt-BR" sz="1800" dirty="0">
                <a:solidFill>
                  <a:schemeClr val="tx2"/>
                </a:solidFill>
                <a:latin typeface="Arial" pitchFamily="34" charset="0"/>
                <a:cs typeface="Arial" pitchFamily="34" charset="0"/>
                <a:hlinkClick r:id="rId3"/>
              </a:rPr>
              <a:t>.</a:t>
            </a:r>
            <a:r>
              <a:rPr lang="pt-BR" sz="1800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  <a:hlinkClick r:id="rId3"/>
              </a:rPr>
              <a:t>php</a:t>
            </a:r>
            <a:r>
              <a:rPr lang="pt-BR" sz="1800" dirty="0">
                <a:solidFill>
                  <a:schemeClr val="tx2"/>
                </a:solidFill>
                <a:latin typeface="Arial" pitchFamily="34" charset="0"/>
                <a:cs typeface="Arial" pitchFamily="34" charset="0"/>
                <a:hlinkClick r:id="rId3"/>
              </a:rPr>
              <a:t>/</a:t>
            </a:r>
            <a:r>
              <a:rPr lang="pt-BR" sz="1800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  <a:hlinkClick r:id="rId3"/>
              </a:rPr>
              <a:t>API_Sanity_Autotest</a:t>
            </a:r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- C) suportam a execução automática de testes;</a:t>
            </a:r>
          </a:p>
          <a:p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maioria de frameworks são sistemas abertos já que o processo é específico de cada organização;</a:t>
            </a:r>
          </a:p>
          <a:p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algumas vezes de difícil integração em desenhos fechados e framework de análise.</a:t>
            </a:r>
          </a:p>
        </p:txBody>
      </p:sp>
      <p:pic>
        <p:nvPicPr>
          <p:cNvPr id="7" name="Picture 6" descr="Trabalho 01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69168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3042" y="0"/>
            <a:ext cx="7500958" cy="1285860"/>
          </a:xfrm>
        </p:spPr>
        <p:txBody>
          <a:bodyPr>
            <a:normAutofit/>
          </a:bodyPr>
          <a:lstStyle/>
          <a:p>
            <a:r>
              <a:rPr lang="pt-BR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Automação (cont.)</a:t>
            </a:r>
            <a:endParaRPr lang="pt-BR" sz="28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3042" y="1285860"/>
            <a:ext cx="7500958" cy="5000660"/>
          </a:xfrm>
        </p:spPr>
        <p:txBody>
          <a:bodyPr>
            <a:normAutofit/>
          </a:bodyPr>
          <a:lstStyle/>
          <a:p>
            <a:r>
              <a:rPr lang="pt-BR" sz="28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scripts podem ser desenvolvidos para simular a utilização de interfaces por usuários;</a:t>
            </a:r>
          </a:p>
          <a:p>
            <a:r>
              <a:rPr lang="pt-BR" sz="28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em determinados casos, saída de testes devem ser preparadas manualmente para comparação;</a:t>
            </a:r>
          </a:p>
          <a:p>
            <a:r>
              <a:rPr lang="pt-BR" sz="28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comparadores específicos de arquivos podem ser desenvolvidos.</a:t>
            </a:r>
          </a:p>
        </p:txBody>
      </p:sp>
      <p:pic>
        <p:nvPicPr>
          <p:cNvPr id="7" name="Picture 6" descr="Trabalho 01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69168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3042" y="0"/>
            <a:ext cx="7500958" cy="1285860"/>
          </a:xfrm>
        </p:spPr>
        <p:txBody>
          <a:bodyPr>
            <a:normAutofit/>
          </a:bodyPr>
          <a:lstStyle/>
          <a:p>
            <a:r>
              <a:rPr lang="pt-BR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TDD</a:t>
            </a:r>
            <a:endParaRPr lang="pt-BR" sz="28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3042" y="1285860"/>
            <a:ext cx="7500958" cy="5000660"/>
          </a:xfrm>
        </p:spPr>
        <p:txBody>
          <a:bodyPr>
            <a:normAutofit/>
          </a:bodyPr>
          <a:lstStyle/>
          <a:p>
            <a:r>
              <a:rPr lang="pt-BR" sz="28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abordagem que intercala escrita de testes e desenvolvimento de código;</a:t>
            </a:r>
          </a:p>
          <a:p>
            <a:r>
              <a:rPr lang="pt-BR" sz="28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introduzida pela Programação Extrema (XP);</a:t>
            </a:r>
          </a:p>
          <a:p>
            <a:r>
              <a:rPr lang="pt-BR" sz="28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torna compreensível o que o código deve fazer, apenas nos casos onde o objetivo é conhecido. </a:t>
            </a:r>
          </a:p>
          <a:p>
            <a:endParaRPr lang="pt-BR" sz="2800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Picture 6" descr="Trabalho 0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6916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38137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3042" y="0"/>
            <a:ext cx="7500958" cy="1285860"/>
          </a:xfrm>
        </p:spPr>
        <p:txBody>
          <a:bodyPr>
            <a:normAutofit/>
          </a:bodyPr>
          <a:lstStyle/>
          <a:p>
            <a:r>
              <a:rPr lang="pt-BR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TDD</a:t>
            </a:r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3042" y="1285860"/>
            <a:ext cx="7500958" cy="5000660"/>
          </a:xfrm>
        </p:spPr>
        <p:txBody>
          <a:bodyPr>
            <a:normAutofit/>
          </a:bodyPr>
          <a:lstStyle/>
          <a:p>
            <a:r>
              <a:rPr lang="pt-BR" sz="28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processo:</a:t>
            </a:r>
          </a:p>
          <a:p>
            <a:pPr lvl="1"/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define o incremento (funcionalidade) de software;</a:t>
            </a:r>
          </a:p>
          <a:p>
            <a:pPr lvl="1"/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escreve os testes para o incremento e os automatiza (</a:t>
            </a:r>
            <a:r>
              <a:rPr lang="pt-BR" sz="2400" i="1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test-first</a:t>
            </a:r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);</a:t>
            </a:r>
          </a:p>
          <a:p>
            <a:pPr lvl="1"/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implementa o incremento/</a:t>
            </a:r>
            <a:r>
              <a:rPr lang="pt-BR" sz="2400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refatora</a:t>
            </a:r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;</a:t>
            </a:r>
          </a:p>
          <a:p>
            <a:pPr lvl="1"/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executar os testes;</a:t>
            </a:r>
          </a:p>
          <a:p>
            <a:pPr lvl="1"/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se os testes tiveram sucesso, adiciona a nova funcionalidade;</a:t>
            </a:r>
          </a:p>
          <a:p>
            <a:pPr lvl="1"/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implementação da próxima funcionalidade.</a:t>
            </a:r>
          </a:p>
          <a:p>
            <a:endParaRPr lang="pt-BR" sz="2800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endParaRPr lang="pt-BR" sz="2800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endParaRPr lang="pt-BR" sz="2800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endParaRPr lang="pt-BR" sz="2800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Picture 6" descr="Trabalho 0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6916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82643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3042" y="0"/>
            <a:ext cx="7500958" cy="1285860"/>
          </a:xfrm>
        </p:spPr>
        <p:txBody>
          <a:bodyPr>
            <a:normAutofit/>
          </a:bodyPr>
          <a:lstStyle/>
          <a:p>
            <a:r>
              <a:rPr lang="pt-BR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TDD</a:t>
            </a:r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3042" y="1285860"/>
            <a:ext cx="7500958" cy="5000660"/>
          </a:xfrm>
        </p:spPr>
        <p:txBody>
          <a:bodyPr>
            <a:normAutofit fontScale="92500" lnSpcReduction="20000"/>
          </a:bodyPr>
          <a:lstStyle/>
          <a:p>
            <a:r>
              <a:rPr lang="pt-BR" sz="28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benefícios:</a:t>
            </a:r>
          </a:p>
          <a:p>
            <a:pPr lvl="1"/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cobertura de código: garante que todo o código do sistema foi testado;</a:t>
            </a:r>
          </a:p>
          <a:p>
            <a:pPr lvl="1"/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teste de regressão: garante que novos incrementos não introduziram novos defeitos;</a:t>
            </a:r>
          </a:p>
          <a:p>
            <a:pPr lvl="1"/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depuração simplificada: em caso de falhas, o código recém adicionado deve ser verificado;</a:t>
            </a:r>
          </a:p>
          <a:p>
            <a:pPr lvl="1"/>
            <a:r>
              <a:rPr lang="pt-BR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documentação de sistemas: os testes são uma forma de documentação que ajudam na compreensão do código.</a:t>
            </a:r>
          </a:p>
          <a:p>
            <a:pPr lvl="1"/>
            <a:endParaRPr lang="pt-BR" sz="2400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r>
              <a:rPr lang="pt-BR" sz="28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nem sempre TDD é eficaz: sistemas desenvolvidos com reuso de componentes legados (impossível decompor) ou sistemas </a:t>
            </a:r>
            <a:r>
              <a:rPr lang="pt-BR" sz="2800" i="1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multithread</a:t>
            </a:r>
            <a:r>
              <a:rPr lang="pt-BR" sz="28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; </a:t>
            </a:r>
          </a:p>
          <a:p>
            <a:endParaRPr lang="pt-BR" sz="2800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Picture 6" descr="Trabalho 0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6916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55326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3042" y="0"/>
            <a:ext cx="7500958" cy="1285860"/>
          </a:xfrm>
        </p:spPr>
        <p:txBody>
          <a:bodyPr>
            <a:normAutofit/>
          </a:bodyPr>
          <a:lstStyle/>
          <a:p>
            <a:r>
              <a:rPr lang="pt-BR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Pontos </a:t>
            </a:r>
            <a:r>
              <a:rPr lang="pt-BR" sz="3200" b="1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Chave</a:t>
            </a:r>
            <a:endParaRPr lang="pt-BR" sz="28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643042" y="1285860"/>
            <a:ext cx="7500958" cy="5000660"/>
          </a:xfrm>
        </p:spPr>
        <p:txBody>
          <a:bodyPr>
            <a:normAutofit fontScale="85000" lnSpcReduction="20000"/>
          </a:bodyPr>
          <a:lstStyle/>
          <a:p>
            <a:r>
              <a:rPr lang="pt-BR" sz="28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o processo de testes pode detectar a presença de falhas em um sistema, não pode provar que está livre deles;</a:t>
            </a:r>
          </a:p>
          <a:p>
            <a:r>
              <a:rPr lang="pt-BR" sz="28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desenvolvedores são responsáveis pelos testes de componentes;</a:t>
            </a:r>
          </a:p>
          <a:p>
            <a:r>
              <a:rPr lang="pt-BR" sz="28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testes do sistema são responsabilidade de time independente;</a:t>
            </a:r>
          </a:p>
          <a:p>
            <a:r>
              <a:rPr lang="pt-BR" sz="28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teste de integração implica em testar incrementos ao sistema;</a:t>
            </a:r>
          </a:p>
          <a:p>
            <a:r>
              <a:rPr lang="pt-BR" sz="28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testes de lançamento (release) implica em testar o sistema que será colocado à disposição do usuário;</a:t>
            </a:r>
          </a:p>
          <a:p>
            <a:r>
              <a:rPr lang="pt-BR" sz="28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experiência e conhecimento do ambiente são fundamentais no desenho de </a:t>
            </a:r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Casos de Teste</a:t>
            </a:r>
            <a:r>
              <a:rPr lang="pt-BR" sz="28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na detecção de defeitos;</a:t>
            </a:r>
          </a:p>
        </p:txBody>
      </p:sp>
      <p:pic>
        <p:nvPicPr>
          <p:cNvPr id="6" name="Picture 5" descr="ScrewDriver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1448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3042" y="0"/>
            <a:ext cx="7500958" cy="1285860"/>
          </a:xfrm>
        </p:spPr>
        <p:txBody>
          <a:bodyPr>
            <a:normAutofit/>
          </a:bodyPr>
          <a:lstStyle/>
          <a:p>
            <a:r>
              <a:rPr lang="pt-BR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Pontos Chave (cont.)</a:t>
            </a:r>
            <a:endParaRPr lang="pt-BR" sz="28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643042" y="1285860"/>
            <a:ext cx="7500958" cy="5000660"/>
          </a:xfrm>
        </p:spPr>
        <p:txBody>
          <a:bodyPr>
            <a:normAutofit fontScale="92500"/>
          </a:bodyPr>
          <a:lstStyle/>
          <a:p>
            <a:r>
              <a:rPr lang="pt-BR" sz="28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testes de interface são desenhados para detectar falhas em componentes compostos;</a:t>
            </a:r>
          </a:p>
          <a:p>
            <a:r>
              <a:rPr lang="pt-BR" sz="2800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paticionamento</a:t>
            </a:r>
            <a:r>
              <a:rPr lang="pt-BR" sz="28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equivalente é uma metodologia para descobrir </a:t>
            </a:r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Casos de Teste</a:t>
            </a:r>
            <a:r>
              <a:rPr lang="pt-BR" sz="28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: todos os casos dentro da mesma partição devem se comportar de maneira similar;</a:t>
            </a:r>
          </a:p>
          <a:p>
            <a:r>
              <a:rPr lang="pt-BR" sz="28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análise estrutural se baseia na análise do programa e no desenho de testes a partir desta análise;</a:t>
            </a:r>
          </a:p>
          <a:p>
            <a:r>
              <a:rPr lang="pt-BR" sz="28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automação reduz custos e tempo necessário através de ferramentas de suporte.</a:t>
            </a:r>
          </a:p>
        </p:txBody>
      </p:sp>
      <p:pic>
        <p:nvPicPr>
          <p:cNvPr id="6" name="Picture 5" descr="ScrewDriver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1448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End Sign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6971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2000240"/>
          </a:xfrm>
        </p:spPr>
        <p:txBody>
          <a:bodyPr>
            <a:normAutofit/>
          </a:bodyPr>
          <a:lstStyle/>
          <a:p>
            <a:pPr algn="l"/>
            <a:r>
              <a:rPr lang="en-US" sz="60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en-US" sz="6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FIM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F70FC48FC28A94EA31063520119A0C1" ma:contentTypeVersion="0" ma:contentTypeDescription="Crie um novo documento." ma:contentTypeScope="" ma:versionID="fa412992c79eabd9d4aa0cf08be2aaa6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97561fba88d9dece65508bac662637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FE6876F-5B3B-4F3E-A855-6F5FFC34519D}"/>
</file>

<file path=customXml/itemProps2.xml><?xml version="1.0" encoding="utf-8"?>
<ds:datastoreItem xmlns:ds="http://schemas.openxmlformats.org/officeDocument/2006/customXml" ds:itemID="{19D85438-1198-4F27-8451-45FB01B911A8}"/>
</file>

<file path=customXml/itemProps3.xml><?xml version="1.0" encoding="utf-8"?>
<ds:datastoreItem xmlns:ds="http://schemas.openxmlformats.org/officeDocument/2006/customXml" ds:itemID="{938254BF-57A3-4402-BFB6-068450669F87}"/>
</file>

<file path=docProps/app.xml><?xml version="1.0" encoding="utf-8"?>
<Properties xmlns="http://schemas.openxmlformats.org/officeDocument/2006/extended-properties" xmlns:vt="http://schemas.openxmlformats.org/officeDocument/2006/docPropsVTypes">
  <TotalTime>2269</TotalTime>
  <Words>2318</Words>
  <Application>Microsoft Office PowerPoint</Application>
  <PresentationFormat>Apresentação na tela (4:3)</PresentationFormat>
  <Paragraphs>281</Paragraphs>
  <Slides>48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48</vt:i4>
      </vt:variant>
    </vt:vector>
  </HeadingPairs>
  <TitlesOfParts>
    <vt:vector size="51" baseType="lpstr">
      <vt:lpstr>Arial</vt:lpstr>
      <vt:lpstr>Calibri</vt:lpstr>
      <vt:lpstr>Office Theme</vt:lpstr>
      <vt:lpstr> Testing</vt:lpstr>
      <vt:lpstr>Objetivos</vt:lpstr>
      <vt:lpstr>Processo de Testes</vt:lpstr>
      <vt:lpstr>Processo de Testes (cont.)</vt:lpstr>
      <vt:lpstr>Processo de Testes (cont.)</vt:lpstr>
      <vt:lpstr>Processo de Testes (cont.)</vt:lpstr>
      <vt:lpstr>Políticas de Teste</vt:lpstr>
      <vt:lpstr>Testes</vt:lpstr>
      <vt:lpstr>Testes (cont.)</vt:lpstr>
      <vt:lpstr>Testes (cont.)</vt:lpstr>
      <vt:lpstr>Testes (cont.)</vt:lpstr>
      <vt:lpstr>Testes (cont.)</vt:lpstr>
      <vt:lpstr>Testes (cont.)</vt:lpstr>
      <vt:lpstr>Testes (cont.)</vt:lpstr>
      <vt:lpstr>Testes (cont.)</vt:lpstr>
      <vt:lpstr>Testes (cont.)</vt:lpstr>
      <vt:lpstr>Testes (cont.)</vt:lpstr>
      <vt:lpstr>Testes (cont.)</vt:lpstr>
      <vt:lpstr>Testes (cont.)</vt:lpstr>
      <vt:lpstr>Testes (cont.)</vt:lpstr>
      <vt:lpstr>Testes (cont.)</vt:lpstr>
      <vt:lpstr>Testes (cont.)</vt:lpstr>
      <vt:lpstr>Testes (cont.)</vt:lpstr>
      <vt:lpstr>Testes (cont.)</vt:lpstr>
      <vt:lpstr>Testes (cont.)</vt:lpstr>
      <vt:lpstr>Testes (cont.)</vt:lpstr>
      <vt:lpstr>Testes (cont.)</vt:lpstr>
      <vt:lpstr>Testes (cont.)</vt:lpstr>
      <vt:lpstr>Testes (cont.)</vt:lpstr>
      <vt:lpstr>Teste de Interfaces</vt:lpstr>
      <vt:lpstr>Teste de Interfaces (cont.)</vt:lpstr>
      <vt:lpstr>Teste de Interfaces (cont.)</vt:lpstr>
      <vt:lpstr>Teste de Interfaces (cont.)</vt:lpstr>
      <vt:lpstr>Caso de Teste</vt:lpstr>
      <vt:lpstr>Caso de Teste (cont.)</vt:lpstr>
      <vt:lpstr>Caso de Teste (cont.)</vt:lpstr>
      <vt:lpstr>Partição</vt:lpstr>
      <vt:lpstr>Partição (cont.)</vt:lpstr>
      <vt:lpstr>Partição (cont.)</vt:lpstr>
      <vt:lpstr>Caso de Teste (cont.)</vt:lpstr>
      <vt:lpstr>Automação</vt:lpstr>
      <vt:lpstr>Automação (cont.)</vt:lpstr>
      <vt:lpstr>TDD</vt:lpstr>
      <vt:lpstr>TDD (cont.)</vt:lpstr>
      <vt:lpstr>TDD (cont.)</vt:lpstr>
      <vt:lpstr>Pontos Chave</vt:lpstr>
      <vt:lpstr>Pontos Chave (cont.)</vt:lpstr>
      <vt:lpstr> FIM</vt:lpstr>
    </vt:vector>
  </TitlesOfParts>
  <Company>PricewaterhouseCoopers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PwC</dc:creator>
  <cp:lastModifiedBy>FREITAS Paulo</cp:lastModifiedBy>
  <cp:revision>257</cp:revision>
  <dcterms:created xsi:type="dcterms:W3CDTF">2008-09-28T15:39:36Z</dcterms:created>
  <dcterms:modified xsi:type="dcterms:W3CDTF">2022-09-07T16:48:43Z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SDCxCLASSFICATION_LEVEL">
    <vt:lpwstr>1</vt:lpwstr>
  </property>
  <property fmtid="{D5CDD505-2E9C-101B-9397-08002B2CF9AE}" pid="3" name="SSDCxCLASSFICATION_USER">
    <vt:lpwstr>SOACAT\061603</vt:lpwstr>
  </property>
  <property fmtid="{D5CDD505-2E9C-101B-9397-08002B2CF9AE}" pid="4" name="SSDCxCLASSFICATION_DATE">
    <vt:lpwstr>21/10/2013 19:53:42</vt:lpwstr>
  </property>
  <property fmtid="{D5CDD505-2E9C-101B-9397-08002B2CF9AE}" pid="5" name="SSDCxCLASSFICATION_GUID">
    <vt:lpwstr>C6FE26660E7FA0F0CA36071012AED110</vt:lpwstr>
  </property>
  <property fmtid="{D5CDD505-2E9C-101B-9397-08002B2CF9AE}" pid="6" name="ContentTypeId">
    <vt:lpwstr>0x0101000F70FC48FC28A94EA31063520119A0C1</vt:lpwstr>
  </property>
</Properties>
</file>